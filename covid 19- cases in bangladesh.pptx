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9"/>
  </p:notesMasterIdLst>
  <p:sldIdLst>
    <p:sldId id="256" r:id="rId2"/>
    <p:sldId id="257" r:id="rId3"/>
    <p:sldId id="261" r:id="rId4"/>
    <p:sldId id="300" r:id="rId5"/>
    <p:sldId id="301" r:id="rId6"/>
    <p:sldId id="263" r:id="rId7"/>
    <p:sldId id="266" r:id="rId8"/>
    <p:sldId id="302" r:id="rId9"/>
    <p:sldId id="269" r:id="rId10"/>
    <p:sldId id="303" r:id="rId11"/>
    <p:sldId id="273" r:id="rId12"/>
    <p:sldId id="304" r:id="rId13"/>
    <p:sldId id="271" r:id="rId14"/>
    <p:sldId id="274" r:id="rId15"/>
    <p:sldId id="275" r:id="rId16"/>
    <p:sldId id="277" r:id="rId17"/>
    <p:sldId id="278" r:id="rId18"/>
    <p:sldId id="279" r:id="rId19"/>
    <p:sldId id="280" r:id="rId20"/>
    <p:sldId id="281" r:id="rId21"/>
    <p:sldId id="282" r:id="rId22"/>
    <p:sldId id="283" r:id="rId23"/>
    <p:sldId id="286" r:id="rId24"/>
    <p:sldId id="284" r:id="rId25"/>
    <p:sldId id="298" r:id="rId26"/>
    <p:sldId id="287" r:id="rId27"/>
    <p:sldId id="285" r:id="rId28"/>
    <p:sldId id="288" r:id="rId29"/>
    <p:sldId id="289" r:id="rId30"/>
    <p:sldId id="290" r:id="rId31"/>
    <p:sldId id="299" r:id="rId32"/>
    <p:sldId id="294" r:id="rId33"/>
    <p:sldId id="296" r:id="rId34"/>
    <p:sldId id="295" r:id="rId35"/>
    <p:sldId id="291" r:id="rId36"/>
    <p:sldId id="297" r:id="rId37"/>
    <p:sldId id="260" r:id="rId3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901"/>
    <a:srgbClr val="2A000F"/>
    <a:srgbClr val="26C2CA"/>
    <a:srgbClr val="FFAF9F"/>
    <a:srgbClr val="48001A"/>
    <a:srgbClr val="4400EE"/>
    <a:srgbClr val="6C1A00"/>
    <a:srgbClr val="58004E"/>
    <a:srgbClr val="FE9202"/>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816" y="-22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8/19/2021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37</a:t>
            </a:fld>
            <a:endParaRPr lang="en-US"/>
          </a:p>
        </p:txBody>
      </p:sp>
    </p:spTree>
    <p:extLst>
      <p:ext uri="{BB962C8B-B14F-4D97-AF65-F5344CB8AC3E}">
        <p14:creationId xmlns:p14="http://schemas.microsoft.com/office/powerpoint/2010/main" val="1284596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54965" y="1800401"/>
            <a:ext cx="7631835" cy="1832460"/>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054964" y="3640685"/>
            <a:ext cx="7631836" cy="642397"/>
          </a:xfrm>
        </p:spPr>
        <p:txBody>
          <a:bodyPr>
            <a:normAutofit/>
          </a:bodyPr>
          <a:lstStyle>
            <a:lvl1pPr marL="0" indent="0" algn="r">
              <a:buNone/>
              <a:defRPr sz="2800" b="0" i="0">
                <a:solidFill>
                  <a:srgbClr val="FFC90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6420" y="291492"/>
            <a:ext cx="8229600" cy="763526"/>
          </a:xfrm>
        </p:spPr>
        <p:txBody>
          <a:bodyPr>
            <a:normAutofit/>
          </a:bodyPr>
          <a:lstStyle>
            <a:lvl1pPr algn="r">
              <a:defRPr sz="3600" baseline="0">
                <a:solidFill>
                  <a:srgbClr val="FFC90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502815"/>
            <a:ext cx="8246070" cy="3359508"/>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3215" y="433880"/>
            <a:ext cx="6252689" cy="572644"/>
          </a:xfrm>
        </p:spPr>
        <p:txBody>
          <a:bodyPr>
            <a:normAutofit/>
          </a:bodyPr>
          <a:lstStyle>
            <a:lvl1pPr algn="l">
              <a:defRPr sz="3600">
                <a:solidFill>
                  <a:srgbClr val="FFC90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433215" y="1044700"/>
            <a:ext cx="6252689"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6879" y="284776"/>
            <a:ext cx="8076896" cy="763525"/>
          </a:xfrm>
        </p:spPr>
        <p:txBody>
          <a:bodyPr>
            <a:normAutofit/>
          </a:bodyPr>
          <a:lstStyle>
            <a:lvl1pPr algn="r">
              <a:defRPr sz="3600" baseline="0">
                <a:solidFill>
                  <a:srgbClr val="FFC90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564409"/>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036806"/>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564409"/>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036806"/>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8/19/2021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8/19/2021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8/19/2021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8/19/2021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2819" y="586584"/>
            <a:ext cx="3817625" cy="2901395"/>
          </a:xfrm>
        </p:spPr>
        <p:txBody>
          <a:bodyPr>
            <a:normAutofit/>
          </a:bodyPr>
          <a:lstStyle/>
          <a:p>
            <a:r>
              <a:rPr lang="en-US" sz="4400" dirty="0">
                <a:latin typeface="Algerian" panose="04020705040A02060702" pitchFamily="82" charset="0"/>
              </a:rPr>
              <a:t>Covid -19 cases in Bangladesh</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55" y="128470"/>
            <a:ext cx="8076894" cy="920985"/>
          </a:xfrm>
        </p:spPr>
        <p:txBody>
          <a:bodyPr>
            <a:normAutofit/>
          </a:bodyPr>
          <a:lstStyle/>
          <a:p>
            <a:r>
              <a:rPr lang="en-US" dirty="0">
                <a:solidFill>
                  <a:schemeClr val="bg1"/>
                </a:solidFill>
                <a:latin typeface="Arial Rounded MT Bold" panose="020F0704030504030204" pitchFamily="34" charset="0"/>
              </a:rPr>
              <a:t>Presented By-</a:t>
            </a:r>
          </a:p>
        </p:txBody>
      </p:sp>
      <p:sp>
        <p:nvSpPr>
          <p:cNvPr id="3" name="Content Placeholder 2"/>
          <p:cNvSpPr>
            <a:spLocks noGrp="1"/>
          </p:cNvSpPr>
          <p:nvPr>
            <p:ph idx="1"/>
          </p:nvPr>
        </p:nvSpPr>
        <p:spPr/>
        <p:txBody>
          <a:bodyPr/>
          <a:lstStyle/>
          <a:p>
            <a:r>
              <a:rPr lang="en-US" sz="3200" b="1" dirty="0">
                <a:solidFill>
                  <a:srgbClr val="C00000"/>
                </a:solidFill>
                <a:latin typeface="Bookman Old Style" panose="02050604050505020204" pitchFamily="18" charset="0"/>
                <a:cs typeface="Times New Roman" panose="02020603050405020304" pitchFamily="18" charset="0"/>
              </a:rPr>
              <a:t>MD. Thoufiq Zumma : 181-15-10968</a:t>
            </a:r>
          </a:p>
          <a:p>
            <a:r>
              <a:rPr lang="en-US" sz="3200" b="1" dirty="0">
                <a:solidFill>
                  <a:srgbClr val="C00000"/>
                </a:solidFill>
                <a:latin typeface="Bookman Old Style" panose="02050604050505020204" pitchFamily="18" charset="0"/>
                <a:cs typeface="Times New Roman" panose="02020603050405020304" pitchFamily="18" charset="0"/>
              </a:rPr>
              <a:t>Jerin Akther : 181-15-11136</a:t>
            </a:r>
          </a:p>
          <a:p>
            <a:r>
              <a:rPr lang="en-US" sz="3200" b="1" dirty="0">
                <a:solidFill>
                  <a:srgbClr val="C00000"/>
                </a:solidFill>
                <a:latin typeface="Bookman Old Style" panose="02050604050505020204" pitchFamily="18" charset="0"/>
                <a:cs typeface="Times New Roman" panose="02020603050405020304" pitchFamily="18" charset="0"/>
              </a:rPr>
              <a:t>Irin Aktar Pushpa: 181-15-11153</a:t>
            </a:r>
          </a:p>
          <a:p>
            <a:r>
              <a:rPr lang="en-US" sz="3200" b="1" dirty="0">
                <a:solidFill>
                  <a:srgbClr val="C00000"/>
                </a:solidFill>
                <a:latin typeface="Bookman Old Style" panose="02050604050505020204" pitchFamily="18" charset="0"/>
                <a:cs typeface="Times New Roman" panose="02020603050405020304" pitchFamily="18" charset="0"/>
              </a:rPr>
              <a:t>Jannatul Ferdaous : 181-15-11171</a:t>
            </a:r>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E617-22D4-4D0A-94B4-0B652E266FA7}"/>
              </a:ext>
            </a:extLst>
          </p:cNvPr>
          <p:cNvSpPr>
            <a:spLocks noGrp="1"/>
          </p:cNvSpPr>
          <p:nvPr>
            <p:ph type="title"/>
          </p:nvPr>
        </p:nvSpPr>
        <p:spPr/>
        <p:txBody>
          <a:bodyPr>
            <a:normAutofit fontScale="90000"/>
          </a:bodyPr>
          <a:lstStyle/>
          <a:p>
            <a:r>
              <a:rPr lang="en-US" b="1" dirty="0">
                <a:solidFill>
                  <a:srgbClr val="FFFF00"/>
                </a:solidFill>
                <a:latin typeface="Bahnschrift" panose="020B0502040204020203" pitchFamily="34" charset="0"/>
              </a:rPr>
              <a:t>What is CORONA virus?</a:t>
            </a:r>
          </a:p>
        </p:txBody>
      </p:sp>
      <p:sp>
        <p:nvSpPr>
          <p:cNvPr id="3" name="Content Placeholder 2">
            <a:extLst>
              <a:ext uri="{FF2B5EF4-FFF2-40B4-BE49-F238E27FC236}">
                <a16:creationId xmlns:a16="http://schemas.microsoft.com/office/drawing/2014/main" id="{294B4063-C82E-4CE8-8678-3B497DAA3C3C}"/>
              </a:ext>
            </a:extLst>
          </p:cNvPr>
          <p:cNvSpPr>
            <a:spLocks noGrp="1"/>
          </p:cNvSpPr>
          <p:nvPr>
            <p:ph idx="1"/>
          </p:nvPr>
        </p:nvSpPr>
        <p:spPr/>
        <p:txBody>
          <a:bodyPr/>
          <a:lstStyle/>
          <a:p>
            <a:r>
              <a:rPr lang="en-US" i="0" dirty="0">
                <a:solidFill>
                  <a:schemeClr val="accent6">
                    <a:lumMod val="20000"/>
                    <a:lumOff val="80000"/>
                  </a:schemeClr>
                </a:solidFill>
                <a:effectLst/>
                <a:latin typeface="Times New Roman" panose="02020603050405020304" pitchFamily="18" charset="0"/>
                <a:cs typeface="Times New Roman" panose="02020603050405020304" pitchFamily="18" charset="0"/>
              </a:rPr>
              <a:t>Coronaviruses are a group of related RNA viruses that cause diseases in mammals and birds.</a:t>
            </a:r>
            <a:endParaRPr lang="en-US" dirty="0">
              <a:solidFill>
                <a:schemeClr val="accent6">
                  <a:lumMod val="20000"/>
                  <a:lumOff val="8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CCE9175-01A7-4A7D-BA0B-A5DC22C4A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4950" y="2419045"/>
            <a:ext cx="5039265" cy="2595985"/>
          </a:xfrm>
          <a:prstGeom prst="rect">
            <a:avLst/>
          </a:prstGeom>
        </p:spPr>
      </p:pic>
    </p:spTree>
    <p:extLst>
      <p:ext uri="{BB962C8B-B14F-4D97-AF65-F5344CB8AC3E}">
        <p14:creationId xmlns:p14="http://schemas.microsoft.com/office/powerpoint/2010/main" val="322884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BF8B7-4462-4872-9D59-CB111A8D5432}"/>
              </a:ext>
            </a:extLst>
          </p:cNvPr>
          <p:cNvSpPr>
            <a:spLocks noGrp="1"/>
          </p:cNvSpPr>
          <p:nvPr>
            <p:ph type="title"/>
          </p:nvPr>
        </p:nvSpPr>
        <p:spPr/>
        <p:txBody>
          <a:bodyPr>
            <a:normAutofit/>
          </a:bodyPr>
          <a:lstStyle/>
          <a:p>
            <a:r>
              <a:rPr lang="en-US" sz="3200" dirty="0">
                <a:solidFill>
                  <a:srgbClr val="FFFF00"/>
                </a:solidFill>
                <a:latin typeface="Aharoni" panose="02010803020104030203" pitchFamily="2" charset="-79"/>
                <a:cs typeface="Aharoni" panose="02010803020104030203" pitchFamily="2" charset="-79"/>
              </a:rPr>
              <a:t>History of Corona Virus:</a:t>
            </a:r>
            <a:endParaRPr lang="en-US" sz="3200" dirty="0"/>
          </a:p>
        </p:txBody>
      </p:sp>
      <p:sp>
        <p:nvSpPr>
          <p:cNvPr id="3" name="Content Placeholder 2">
            <a:extLst>
              <a:ext uri="{FF2B5EF4-FFF2-40B4-BE49-F238E27FC236}">
                <a16:creationId xmlns:a16="http://schemas.microsoft.com/office/drawing/2014/main" id="{58497E06-CE0E-4EC6-89E4-23DE62CC969F}"/>
              </a:ext>
            </a:extLst>
          </p:cNvPr>
          <p:cNvSpPr>
            <a:spLocks noGrp="1"/>
          </p:cNvSpPr>
          <p:nvPr>
            <p:ph idx="1"/>
          </p:nvPr>
        </p:nvSpPr>
        <p:spPr/>
        <p:txBody>
          <a:bodyPr>
            <a:normAutofit fontScale="77500" lnSpcReduction="20000"/>
          </a:bodyPr>
          <a:lstStyle/>
          <a:p>
            <a:r>
              <a:rPr lang="en-US" sz="2800" b="0" i="0" dirty="0">
                <a:effectLst/>
                <a:latin typeface="Times New Roman" panose="02020603050405020304" pitchFamily="18" charset="0"/>
                <a:cs typeface="Times New Roman" panose="02020603050405020304" pitchFamily="18" charset="0"/>
              </a:rPr>
              <a:t>Corona virus was previously referred to by its </a:t>
            </a:r>
            <a:r>
              <a:rPr lang="en-US" sz="2800" dirty="0">
                <a:latin typeface="Times New Roman" panose="02020603050405020304" pitchFamily="18" charset="0"/>
                <a:cs typeface="Times New Roman" panose="02020603050405020304" pitchFamily="18" charset="0"/>
              </a:rPr>
              <a:t>provisional name</a:t>
            </a:r>
            <a:r>
              <a:rPr lang="en-US" sz="2800" b="0" i="0" dirty="0">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2019 novel coronavirus</a:t>
            </a:r>
            <a:r>
              <a:rPr lang="en-US" sz="2800" b="0" i="0" dirty="0">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2019-nCoV</a:t>
            </a:r>
            <a:r>
              <a:rPr lang="en-US" sz="2800" b="0" i="0" dirty="0">
                <a:effectLst/>
                <a:latin typeface="Times New Roman" panose="02020603050405020304" pitchFamily="18" charset="0"/>
                <a:cs typeface="Times New Roman" panose="02020603050405020304" pitchFamily="18" charset="0"/>
              </a:rPr>
              <a:t>),</a:t>
            </a:r>
            <a:r>
              <a:rPr lang="en-US" sz="2800" b="0" i="0" baseline="3000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and has also been called </a:t>
            </a:r>
            <a:r>
              <a:rPr lang="en-US" sz="2800" b="1" i="0" dirty="0">
                <a:effectLst/>
                <a:latin typeface="Times New Roman" panose="02020603050405020304" pitchFamily="18" charset="0"/>
                <a:cs typeface="Times New Roman" panose="02020603050405020304" pitchFamily="18" charset="0"/>
              </a:rPr>
              <a:t>human coronavirus 2019</a:t>
            </a:r>
            <a:r>
              <a:rPr lang="en-US" sz="2800" b="0" i="0" dirty="0">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HCoV-19</a:t>
            </a:r>
            <a:r>
              <a:rPr lang="en-US" sz="2800" b="0" i="0" dirty="0">
                <a:effectLst/>
                <a:latin typeface="Times New Roman" panose="02020603050405020304" pitchFamily="18" charset="0"/>
                <a:cs typeface="Times New Roman" panose="02020603050405020304" pitchFamily="18" charset="0"/>
              </a:rPr>
              <a:t> or </a:t>
            </a:r>
            <a:r>
              <a:rPr lang="en-US" sz="2800" b="1" i="0" dirty="0">
                <a:effectLst/>
                <a:latin typeface="Times New Roman" panose="02020603050405020304" pitchFamily="18" charset="0"/>
                <a:cs typeface="Times New Roman" panose="02020603050405020304" pitchFamily="18" charset="0"/>
              </a:rPr>
              <a:t>hCoV-19</a:t>
            </a:r>
            <a:r>
              <a:rPr lang="en-US" sz="2800" b="0" i="0" dirty="0">
                <a:effectLst/>
                <a:latin typeface="Times New Roman" panose="02020603050405020304" pitchFamily="18" charset="0"/>
                <a:cs typeface="Times New Roman" panose="02020603050405020304" pitchFamily="18" charset="0"/>
              </a:rPr>
              <a:t>).</a:t>
            </a:r>
            <a:r>
              <a:rPr lang="en-US" sz="2800" b="0" i="0" baseline="3000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First identified in the city of </a:t>
            </a:r>
            <a:r>
              <a:rPr lang="en-US" sz="2800" dirty="0">
                <a:latin typeface="Times New Roman" panose="02020603050405020304" pitchFamily="18" charset="0"/>
                <a:cs typeface="Times New Roman" panose="02020603050405020304" pitchFamily="18" charset="0"/>
              </a:rPr>
              <a:t>Wuhan</a:t>
            </a:r>
            <a:r>
              <a:rPr lang="en-US" sz="2800" b="0" i="0" dirty="0">
                <a:effectLs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Hubei</a:t>
            </a:r>
            <a:r>
              <a:rPr lang="en-US" sz="2800" b="0" i="0" dirty="0">
                <a:effectLst/>
                <a:latin typeface="Times New Roman" panose="02020603050405020304" pitchFamily="18" charset="0"/>
                <a:cs typeface="Times New Roman" panose="02020603050405020304" pitchFamily="18" charset="0"/>
              </a:rPr>
              <a:t>, China, the </a:t>
            </a:r>
            <a:r>
              <a:rPr lang="en-US" sz="2800" dirty="0">
                <a:latin typeface="Times New Roman" panose="02020603050405020304" pitchFamily="18" charset="0"/>
                <a:cs typeface="Times New Roman" panose="02020603050405020304" pitchFamily="18" charset="0"/>
              </a:rPr>
              <a:t>World Health Organization </a:t>
            </a:r>
            <a:r>
              <a:rPr lang="en-US" sz="2800" b="0" i="0" dirty="0">
                <a:effectLst/>
                <a:latin typeface="Times New Roman" panose="02020603050405020304" pitchFamily="18" charset="0"/>
                <a:cs typeface="Times New Roman" panose="02020603050405020304" pitchFamily="18" charset="0"/>
              </a:rPr>
              <a:t>declared the outbreak a </a:t>
            </a:r>
            <a:r>
              <a:rPr lang="en-US" sz="2800" dirty="0">
                <a:latin typeface="Times New Roman" panose="02020603050405020304" pitchFamily="18" charset="0"/>
                <a:cs typeface="Times New Roman" panose="02020603050405020304" pitchFamily="18" charset="0"/>
              </a:rPr>
              <a:t>Public Health Emergency of International Concern </a:t>
            </a:r>
            <a:r>
              <a:rPr lang="en-US" sz="2800" b="0" i="0" dirty="0">
                <a:effectLst/>
                <a:latin typeface="Times New Roman" panose="02020603050405020304" pitchFamily="18" charset="0"/>
                <a:cs typeface="Times New Roman" panose="02020603050405020304" pitchFamily="18" charset="0"/>
              </a:rPr>
              <a:t>on 30 January 2020, and a </a:t>
            </a:r>
            <a:r>
              <a:rPr lang="en-US" sz="2800" dirty="0">
                <a:latin typeface="Times New Roman" panose="02020603050405020304" pitchFamily="18" charset="0"/>
                <a:cs typeface="Times New Roman" panose="02020603050405020304" pitchFamily="18" charset="0"/>
              </a:rPr>
              <a:t>pandemic </a:t>
            </a:r>
            <a:r>
              <a:rPr lang="en-US" sz="2800" b="0" i="0" dirty="0">
                <a:effectLst/>
                <a:latin typeface="Times New Roman" panose="02020603050405020304" pitchFamily="18" charset="0"/>
                <a:cs typeface="Times New Roman" panose="02020603050405020304" pitchFamily="18" charset="0"/>
              </a:rPr>
              <a:t>on 11 March 2020</a:t>
            </a:r>
            <a:r>
              <a:rPr lang="en-US" sz="28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r>
              <a:rPr lang="en-US" sz="2800" b="0" i="0" dirty="0">
                <a:effectLst/>
                <a:latin typeface="Times New Roman" panose="02020603050405020304" pitchFamily="18" charset="0"/>
                <a:cs typeface="Times New Roman" panose="02020603050405020304" pitchFamily="18" charset="0"/>
              </a:rPr>
              <a:t>The virus was confirmed to have spread to </a:t>
            </a:r>
            <a:r>
              <a:rPr lang="en-US" sz="2800" dirty="0">
                <a:latin typeface="Times New Roman" panose="02020603050405020304" pitchFamily="18" charset="0"/>
                <a:cs typeface="Times New Roman" panose="02020603050405020304" pitchFamily="18" charset="0"/>
              </a:rPr>
              <a:t>Bangladesh</a:t>
            </a:r>
            <a:r>
              <a:rPr lang="en-US" sz="2800" b="0" i="0" dirty="0">
                <a:effectLst/>
                <a:latin typeface="Times New Roman" panose="02020603050405020304" pitchFamily="18" charset="0"/>
                <a:cs typeface="Times New Roman" panose="02020603050405020304" pitchFamily="18" charset="0"/>
              </a:rPr>
              <a:t> in March 2020. The first three known cases were reported on 8 March 2020 by the country's epidemiology institute, </a:t>
            </a:r>
            <a:r>
              <a:rPr lang="en-US" sz="2800" dirty="0">
                <a:latin typeface="Times New Roman" panose="02020603050405020304" pitchFamily="18" charset="0"/>
                <a:cs typeface="Times New Roman" panose="02020603050405020304" pitchFamily="18" charset="0"/>
              </a:rPr>
              <a:t>IEDCR</a:t>
            </a:r>
            <a:r>
              <a:rPr lang="en-US" sz="2800" b="0" i="0" dirty="0">
                <a:effectLst/>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51294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C774-9CED-4DCD-87A5-69F6F8BEBD38}"/>
              </a:ext>
            </a:extLst>
          </p:cNvPr>
          <p:cNvSpPr>
            <a:spLocks noGrp="1"/>
          </p:cNvSpPr>
          <p:nvPr>
            <p:ph type="title"/>
          </p:nvPr>
        </p:nvSpPr>
        <p:spPr/>
        <p:txBody>
          <a:bodyPr/>
          <a:lstStyle/>
          <a:p>
            <a:r>
              <a:rPr lang="en-US" dirty="0">
                <a:solidFill>
                  <a:srgbClr val="FFFF00"/>
                </a:solidFill>
                <a:effectLst/>
                <a:latin typeface="Arial Black" panose="020B0A04020102020204" pitchFamily="34" charset="0"/>
                <a:cs typeface="Aharoni" panose="02010803020104030203" pitchFamily="2" charset="-79"/>
              </a:rPr>
              <a:t>Covid-19 Symptoms</a:t>
            </a:r>
            <a:endParaRPr lang="en-US" dirty="0">
              <a:solidFill>
                <a:srgbClr val="FFFF00"/>
              </a:solidFill>
            </a:endParaRPr>
          </a:p>
        </p:txBody>
      </p:sp>
      <p:sp>
        <p:nvSpPr>
          <p:cNvPr id="3" name="Content Placeholder 2">
            <a:extLst>
              <a:ext uri="{FF2B5EF4-FFF2-40B4-BE49-F238E27FC236}">
                <a16:creationId xmlns:a16="http://schemas.microsoft.com/office/drawing/2014/main" id="{2CFAE4A3-7813-46E8-BC53-8F56249EC657}"/>
              </a:ext>
            </a:extLst>
          </p:cNvPr>
          <p:cNvSpPr>
            <a:spLocks noGrp="1"/>
          </p:cNvSpPr>
          <p:nvPr>
            <p:ph idx="1"/>
          </p:nvPr>
        </p:nvSpPr>
        <p:spPr>
          <a:xfrm>
            <a:off x="448966" y="1197406"/>
            <a:ext cx="8398774" cy="3946094"/>
          </a:xfrm>
        </p:spPr>
        <p:txBody>
          <a:bodyPr>
            <a:normAutofit fontScale="47500" lnSpcReduction="20000"/>
          </a:bodyPr>
          <a:lstStyle/>
          <a:p>
            <a:pPr algn="l">
              <a:buFont typeface="Wingdings" panose="05000000000000000000" pitchFamily="2" charset="2"/>
              <a:buChar char="v"/>
            </a:pPr>
            <a:r>
              <a:rPr lang="en-US" sz="3400" b="1" i="0" dirty="0">
                <a:effectLst/>
                <a:latin typeface="Times New Roman" panose="02020603050405020304" pitchFamily="18" charset="0"/>
                <a:cs typeface="Times New Roman" panose="02020603050405020304" pitchFamily="18" charset="0"/>
              </a:rPr>
              <a:t>Most common symptoms:</a:t>
            </a:r>
          </a:p>
          <a:p>
            <a:pPr marL="0" indent="0" algn="l">
              <a:buNone/>
            </a:pPr>
            <a:r>
              <a:rPr lang="en-US" sz="3400" b="0" i="0" dirty="0">
                <a:effectLst/>
                <a:latin typeface="Times New Roman" panose="02020603050405020304" pitchFamily="18" charset="0"/>
                <a:cs typeface="Times New Roman" panose="02020603050405020304" pitchFamily="18" charset="0"/>
              </a:rPr>
              <a:t>         -fever</a:t>
            </a:r>
          </a:p>
          <a:p>
            <a:pPr marL="0" indent="0" algn="l">
              <a:buNone/>
            </a:pPr>
            <a:r>
              <a:rPr lang="en-US" sz="3400" dirty="0">
                <a:latin typeface="Times New Roman" panose="02020603050405020304" pitchFamily="18" charset="0"/>
                <a:cs typeface="Times New Roman" panose="02020603050405020304" pitchFamily="18" charset="0"/>
              </a:rPr>
              <a:t>         -d</a:t>
            </a:r>
            <a:r>
              <a:rPr lang="en-US" sz="3400" b="0" i="0" dirty="0">
                <a:effectLst/>
                <a:latin typeface="Times New Roman" panose="02020603050405020304" pitchFamily="18" charset="0"/>
                <a:cs typeface="Times New Roman" panose="02020603050405020304" pitchFamily="18" charset="0"/>
              </a:rPr>
              <a:t>ry cough</a:t>
            </a:r>
          </a:p>
          <a:p>
            <a:pPr marL="0" indent="0" algn="l">
              <a:buNone/>
            </a:pPr>
            <a:r>
              <a:rPr lang="en-US" sz="3400" b="0" i="0" dirty="0">
                <a:effectLst/>
                <a:latin typeface="Times New Roman" panose="02020603050405020304" pitchFamily="18" charset="0"/>
                <a:cs typeface="Times New Roman" panose="02020603050405020304" pitchFamily="18" charset="0"/>
              </a:rPr>
              <a:t>         -tiredness</a:t>
            </a:r>
          </a:p>
          <a:p>
            <a:pPr algn="l">
              <a:buFont typeface="Wingdings" panose="05000000000000000000" pitchFamily="2" charset="2"/>
              <a:buChar char="v"/>
            </a:pPr>
            <a:r>
              <a:rPr lang="en-US" sz="3400" b="1" i="0" dirty="0">
                <a:effectLst/>
                <a:latin typeface="Times New Roman" panose="02020603050405020304" pitchFamily="18" charset="0"/>
                <a:cs typeface="Times New Roman" panose="02020603050405020304" pitchFamily="18" charset="0"/>
              </a:rPr>
              <a:t>Less common symptoms:</a:t>
            </a:r>
          </a:p>
          <a:p>
            <a:pPr marL="0" indent="0" algn="l">
              <a:buNone/>
            </a:pPr>
            <a:r>
              <a:rPr lang="en-US" sz="3400" b="0" i="0" dirty="0">
                <a:effectLst/>
                <a:latin typeface="Times New Roman" panose="02020603050405020304" pitchFamily="18" charset="0"/>
                <a:cs typeface="Times New Roman" panose="02020603050405020304" pitchFamily="18" charset="0"/>
              </a:rPr>
              <a:t>          -aches and pains</a:t>
            </a:r>
          </a:p>
          <a:p>
            <a:pPr marL="0" indent="0" algn="l">
              <a:buNone/>
            </a:pPr>
            <a:r>
              <a:rPr lang="en-US" sz="3400" b="0" i="0" dirty="0">
                <a:effectLst/>
                <a:latin typeface="Times New Roman" panose="02020603050405020304" pitchFamily="18" charset="0"/>
                <a:cs typeface="Times New Roman" panose="02020603050405020304" pitchFamily="18" charset="0"/>
              </a:rPr>
              <a:t>          -sore throat</a:t>
            </a:r>
          </a:p>
          <a:p>
            <a:pPr marL="0" indent="0" algn="l">
              <a:buNone/>
            </a:pPr>
            <a:r>
              <a:rPr lang="en-US" sz="3400" b="0" i="0" dirty="0">
                <a:effectLst/>
                <a:latin typeface="Times New Roman" panose="02020603050405020304" pitchFamily="18" charset="0"/>
                <a:cs typeface="Times New Roman" panose="02020603050405020304" pitchFamily="18" charset="0"/>
              </a:rPr>
              <a:t>          -diarrhea</a:t>
            </a:r>
          </a:p>
          <a:p>
            <a:pPr algn="l">
              <a:buFont typeface="Wingdings" panose="05000000000000000000" pitchFamily="2" charset="2"/>
              <a:buChar char="v"/>
            </a:pPr>
            <a:r>
              <a:rPr lang="en-US" sz="3400" b="1" i="0" dirty="0">
                <a:effectLst/>
                <a:latin typeface="Times New Roman" panose="02020603050405020304" pitchFamily="18" charset="0"/>
                <a:cs typeface="Times New Roman" panose="02020603050405020304" pitchFamily="18" charset="0"/>
              </a:rPr>
              <a:t>conjunctivitis</a:t>
            </a:r>
          </a:p>
          <a:p>
            <a:pPr marL="0" indent="0" algn="l">
              <a:buNone/>
            </a:pPr>
            <a:r>
              <a:rPr lang="en-US" sz="3400" b="0" i="0" dirty="0">
                <a:effectLst/>
                <a:latin typeface="Times New Roman" panose="02020603050405020304" pitchFamily="18" charset="0"/>
                <a:cs typeface="Times New Roman" panose="02020603050405020304" pitchFamily="18" charset="0"/>
              </a:rPr>
              <a:t>           -headache</a:t>
            </a:r>
          </a:p>
          <a:p>
            <a:pPr marL="0" indent="0" algn="l">
              <a:buNone/>
            </a:pPr>
            <a:r>
              <a:rPr lang="en-US" sz="3400" b="0" i="0" dirty="0">
                <a:effectLst/>
                <a:latin typeface="Times New Roman" panose="02020603050405020304" pitchFamily="18" charset="0"/>
                <a:cs typeface="Times New Roman" panose="02020603050405020304" pitchFamily="18" charset="0"/>
              </a:rPr>
              <a:t>           -loss of taste or smell</a:t>
            </a:r>
          </a:p>
          <a:p>
            <a:pPr marL="0" indent="0" algn="l">
              <a:buNone/>
            </a:pPr>
            <a:r>
              <a:rPr lang="en-US" sz="3400" b="0" i="0" dirty="0">
                <a:effectLst/>
                <a:latin typeface="Times New Roman" panose="02020603050405020304" pitchFamily="18" charset="0"/>
                <a:cs typeface="Times New Roman" panose="02020603050405020304" pitchFamily="18" charset="0"/>
              </a:rPr>
              <a:t>           -a rash on skin, or discoloration of fingers or toes</a:t>
            </a:r>
          </a:p>
          <a:p>
            <a:pPr algn="l">
              <a:buFont typeface="Wingdings" panose="05000000000000000000" pitchFamily="2" charset="2"/>
              <a:buChar char="v"/>
            </a:pPr>
            <a:r>
              <a:rPr lang="en-US" sz="3400" b="1" i="0" dirty="0">
                <a:effectLst/>
                <a:latin typeface="Times New Roman" panose="02020603050405020304" pitchFamily="18" charset="0"/>
                <a:cs typeface="Times New Roman" panose="02020603050405020304" pitchFamily="18" charset="0"/>
              </a:rPr>
              <a:t>Serious symptoms:</a:t>
            </a:r>
          </a:p>
          <a:p>
            <a:pPr marL="0" indent="0" algn="l">
              <a:buNone/>
            </a:pPr>
            <a:r>
              <a:rPr lang="en-US" sz="3400" b="0" i="0" dirty="0">
                <a:effectLst/>
                <a:latin typeface="Times New Roman" panose="02020603050405020304" pitchFamily="18" charset="0"/>
                <a:cs typeface="Times New Roman" panose="02020603050405020304" pitchFamily="18" charset="0"/>
              </a:rPr>
              <a:t>          -difficulty breathing or shortness of breath</a:t>
            </a:r>
          </a:p>
          <a:p>
            <a:pPr marL="0" indent="0" algn="l">
              <a:buNone/>
            </a:pPr>
            <a:r>
              <a:rPr lang="en-US" sz="3400" b="0" i="0" dirty="0">
                <a:effectLst/>
                <a:latin typeface="Times New Roman" panose="02020603050405020304" pitchFamily="18" charset="0"/>
                <a:cs typeface="Times New Roman" panose="02020603050405020304" pitchFamily="18" charset="0"/>
              </a:rPr>
              <a:t>          -chest pain or pressure</a:t>
            </a:r>
          </a:p>
          <a:p>
            <a:pPr marL="0" indent="0" algn="l">
              <a:buNone/>
            </a:pPr>
            <a:r>
              <a:rPr lang="en-US" sz="3400" b="0" i="0" dirty="0">
                <a:effectLst/>
                <a:latin typeface="Times New Roman" panose="02020603050405020304" pitchFamily="18" charset="0"/>
                <a:cs typeface="Times New Roman" panose="02020603050405020304" pitchFamily="18" charset="0"/>
              </a:rPr>
              <a:t>          -loss of speech or movement</a:t>
            </a:r>
          </a:p>
          <a:p>
            <a:endParaRPr lang="en-US" dirty="0"/>
          </a:p>
        </p:txBody>
      </p:sp>
    </p:spTree>
    <p:extLst>
      <p:ext uri="{BB962C8B-B14F-4D97-AF65-F5344CB8AC3E}">
        <p14:creationId xmlns:p14="http://schemas.microsoft.com/office/powerpoint/2010/main" val="1180550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E0C4-0C54-43C9-ACAE-C8BE9B620A6A}"/>
              </a:ext>
            </a:extLst>
          </p:cNvPr>
          <p:cNvSpPr>
            <a:spLocks noGrp="1"/>
          </p:cNvSpPr>
          <p:nvPr>
            <p:ph type="title"/>
          </p:nvPr>
        </p:nvSpPr>
        <p:spPr/>
        <p:txBody>
          <a:bodyPr>
            <a:noAutofit/>
          </a:bodyPr>
          <a:lstStyle/>
          <a:p>
            <a:r>
              <a:rPr lang="en-US" sz="3200" b="1" dirty="0">
                <a:solidFill>
                  <a:srgbClr val="FFFF00"/>
                </a:solidFill>
                <a:effectLst/>
                <a:latin typeface="Arial Unicode MS" panose="020B0604020202020204" pitchFamily="34" charset="-128"/>
                <a:ea typeface="Arial Unicode MS" panose="020B0604020202020204" pitchFamily="34" charset="-128"/>
                <a:cs typeface="Arial Unicode MS" panose="020B0604020202020204" pitchFamily="34" charset="-128"/>
              </a:rPr>
              <a:t>Dysthymia and Risk condition:</a:t>
            </a:r>
          </a:p>
        </p:txBody>
      </p:sp>
      <p:sp>
        <p:nvSpPr>
          <p:cNvPr id="3" name="Content Placeholder 2">
            <a:extLst>
              <a:ext uri="{FF2B5EF4-FFF2-40B4-BE49-F238E27FC236}">
                <a16:creationId xmlns:a16="http://schemas.microsoft.com/office/drawing/2014/main" id="{58316630-E67C-4ECD-9BD1-E6DA27A3A0FC}"/>
              </a:ext>
            </a:extLst>
          </p:cNvPr>
          <p:cNvSpPr>
            <a:spLocks noGrp="1"/>
          </p:cNvSpPr>
          <p:nvPr>
            <p:ph idx="1"/>
          </p:nvPr>
        </p:nvSpPr>
        <p:spPr>
          <a:xfrm>
            <a:off x="2433215" y="1006524"/>
            <a:ext cx="6567230" cy="3703096"/>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Age</a:t>
            </a:r>
          </a:p>
          <a:p>
            <a:r>
              <a:rPr lang="en-US" dirty="0">
                <a:latin typeface="Times New Roman" panose="02020603050405020304" pitchFamily="18" charset="0"/>
                <a:cs typeface="Times New Roman" panose="02020603050405020304" pitchFamily="18" charset="0"/>
              </a:rPr>
              <a:t>HTN</a:t>
            </a:r>
          </a:p>
          <a:p>
            <a:r>
              <a:rPr lang="en-US" dirty="0">
                <a:latin typeface="Times New Roman" panose="02020603050405020304" pitchFamily="18" charset="0"/>
                <a:cs typeface="Times New Roman" panose="02020603050405020304" pitchFamily="18" charset="0"/>
              </a:rPr>
              <a:t>Diabetes</a:t>
            </a:r>
          </a:p>
          <a:p>
            <a:r>
              <a:rPr lang="en-US" dirty="0">
                <a:latin typeface="Times New Roman" panose="02020603050405020304" pitchFamily="18" charset="0"/>
                <a:cs typeface="Times New Roman" panose="02020603050405020304" pitchFamily="18" charset="0"/>
              </a:rPr>
              <a:t>Coronary Heart Disease</a:t>
            </a:r>
          </a:p>
          <a:p>
            <a:r>
              <a:rPr lang="en-US" dirty="0">
                <a:latin typeface="Times New Roman" panose="02020603050405020304" pitchFamily="18" charset="0"/>
                <a:cs typeface="Times New Roman" panose="02020603050405020304" pitchFamily="18" charset="0"/>
              </a:rPr>
              <a:t>Hep B</a:t>
            </a:r>
          </a:p>
          <a:p>
            <a:r>
              <a:rPr lang="en-US" dirty="0">
                <a:latin typeface="Times New Roman" panose="02020603050405020304" pitchFamily="18" charset="0"/>
                <a:cs typeface="Times New Roman" panose="02020603050405020304" pitchFamily="18" charset="0"/>
              </a:rPr>
              <a:t>Cerebrovascular Disease</a:t>
            </a:r>
          </a:p>
          <a:p>
            <a:r>
              <a:rPr lang="en-US" dirty="0">
                <a:latin typeface="Times New Roman" panose="02020603050405020304" pitchFamily="18" charset="0"/>
                <a:cs typeface="Times New Roman" panose="02020603050405020304" pitchFamily="18" charset="0"/>
              </a:rPr>
              <a:t>COPD</a:t>
            </a:r>
          </a:p>
          <a:p>
            <a:r>
              <a:rPr lang="en-US" dirty="0">
                <a:latin typeface="Times New Roman" panose="02020603050405020304" pitchFamily="18" charset="0"/>
                <a:cs typeface="Times New Roman" panose="02020603050405020304" pitchFamily="18" charset="0"/>
              </a:rPr>
              <a:t>Cancer</a:t>
            </a:r>
          </a:p>
          <a:p>
            <a:r>
              <a:rPr lang="en-US" dirty="0">
                <a:latin typeface="Times New Roman" panose="02020603050405020304" pitchFamily="18" charset="0"/>
                <a:cs typeface="Times New Roman" panose="02020603050405020304" pitchFamily="18" charset="0"/>
              </a:rPr>
              <a:t>Children and pregnant women seem to do okay</a:t>
            </a:r>
          </a:p>
          <a:p>
            <a:endParaRPr lang="en-US" dirty="0"/>
          </a:p>
        </p:txBody>
      </p:sp>
      <p:pic>
        <p:nvPicPr>
          <p:cNvPr id="5" name="Picture 4">
            <a:extLst>
              <a:ext uri="{FF2B5EF4-FFF2-40B4-BE49-F238E27FC236}">
                <a16:creationId xmlns:a16="http://schemas.microsoft.com/office/drawing/2014/main" id="{62651688-037B-47BC-835C-985B150D16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345" y="1006524"/>
            <a:ext cx="3054100" cy="3130452"/>
          </a:xfrm>
          <a:prstGeom prst="rect">
            <a:avLst/>
          </a:prstGeom>
        </p:spPr>
      </p:pic>
    </p:spTree>
    <p:extLst>
      <p:ext uri="{BB962C8B-B14F-4D97-AF65-F5344CB8AC3E}">
        <p14:creationId xmlns:p14="http://schemas.microsoft.com/office/powerpoint/2010/main" val="141922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235A-8978-4081-9842-A48028039237}"/>
              </a:ext>
            </a:extLst>
          </p:cNvPr>
          <p:cNvSpPr>
            <a:spLocks noGrp="1"/>
          </p:cNvSpPr>
          <p:nvPr>
            <p:ph type="title"/>
          </p:nvPr>
        </p:nvSpPr>
        <p:spPr/>
        <p:txBody>
          <a:bodyPr>
            <a:normAutofit/>
          </a:bodyPr>
          <a:lstStyle/>
          <a:p>
            <a:r>
              <a:rPr lang="en-US" sz="4400" b="1" dirty="0">
                <a:solidFill>
                  <a:srgbClr val="FFFF00"/>
                </a:solidFill>
              </a:rPr>
              <a:t>Purpose</a:t>
            </a:r>
          </a:p>
        </p:txBody>
      </p:sp>
      <p:sp>
        <p:nvSpPr>
          <p:cNvPr id="3" name="Content Placeholder 2">
            <a:extLst>
              <a:ext uri="{FF2B5EF4-FFF2-40B4-BE49-F238E27FC236}">
                <a16:creationId xmlns:a16="http://schemas.microsoft.com/office/drawing/2014/main" id="{5561AF18-DB80-4D54-AF5F-5B8A6DEE8739}"/>
              </a:ext>
            </a:extLst>
          </p:cNvPr>
          <p:cNvSpPr>
            <a:spLocks noGrp="1"/>
          </p:cNvSpPr>
          <p:nvPr>
            <p:ph idx="1"/>
          </p:nvPr>
        </p:nvSpPr>
        <p:spPr>
          <a:xfrm>
            <a:off x="448966" y="1502815"/>
            <a:ext cx="8398774" cy="3640686"/>
          </a:xfrm>
        </p:spPr>
        <p:txBody>
          <a:bodyPr/>
          <a:lstStyle/>
          <a:p>
            <a:r>
              <a:rPr lang="en-US" sz="2400" dirty="0">
                <a:latin typeface="Times New Roman" panose="02020603050405020304" pitchFamily="18" charset="0"/>
                <a:cs typeface="Times New Roman" panose="02020603050405020304" pitchFamily="18" charset="0"/>
              </a:rPr>
              <a:t>To provide an opportunity to evaluate current response concepts, plans and capabilities in response to an outbreak of a novel viral disease.</a:t>
            </a:r>
          </a:p>
          <a:p>
            <a:pPr marL="0" indent="0">
              <a:buNone/>
            </a:pPr>
            <a:endParaRPr lang="en-US" dirty="0"/>
          </a:p>
        </p:txBody>
      </p:sp>
      <p:pic>
        <p:nvPicPr>
          <p:cNvPr id="5" name="Picture 4">
            <a:extLst>
              <a:ext uri="{FF2B5EF4-FFF2-40B4-BE49-F238E27FC236}">
                <a16:creationId xmlns:a16="http://schemas.microsoft.com/office/drawing/2014/main" id="{73E2301F-C609-41D5-BD75-F9599112F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7900" y="2724454"/>
            <a:ext cx="6413611" cy="2419045"/>
          </a:xfrm>
          <a:prstGeom prst="rect">
            <a:avLst/>
          </a:prstGeom>
        </p:spPr>
      </p:pic>
    </p:spTree>
    <p:extLst>
      <p:ext uri="{BB962C8B-B14F-4D97-AF65-F5344CB8AC3E}">
        <p14:creationId xmlns:p14="http://schemas.microsoft.com/office/powerpoint/2010/main" val="285605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6B2B-E0AE-4792-93EA-AEBCCE87F0EE}"/>
              </a:ext>
            </a:extLst>
          </p:cNvPr>
          <p:cNvSpPr>
            <a:spLocks noGrp="1"/>
          </p:cNvSpPr>
          <p:nvPr>
            <p:ph type="title"/>
          </p:nvPr>
        </p:nvSpPr>
        <p:spPr/>
        <p:txBody>
          <a:bodyPr>
            <a:normAutofit fontScale="90000"/>
          </a:bodyPr>
          <a:lstStyle/>
          <a:p>
            <a:r>
              <a:rPr lang="en-US" b="1" dirty="0">
                <a:solidFill>
                  <a:srgbClr val="FFFF00"/>
                </a:solidFill>
                <a:latin typeface="Arial Narrow" panose="020B0606020202030204" pitchFamily="34" charset="0"/>
              </a:rPr>
              <a:t>Planning Consideration:</a:t>
            </a:r>
            <a:endParaRPr lang="en-US" dirty="0"/>
          </a:p>
        </p:txBody>
      </p:sp>
      <p:sp>
        <p:nvSpPr>
          <p:cNvPr id="3" name="Content Placeholder 2">
            <a:extLst>
              <a:ext uri="{FF2B5EF4-FFF2-40B4-BE49-F238E27FC236}">
                <a16:creationId xmlns:a16="http://schemas.microsoft.com/office/drawing/2014/main" id="{D03271C9-CAE6-4869-9030-8894E30BE3CF}"/>
              </a:ext>
            </a:extLst>
          </p:cNvPr>
          <p:cNvSpPr>
            <a:spLocks noGrp="1"/>
          </p:cNvSpPr>
          <p:nvPr>
            <p:ph idx="1"/>
          </p:nvPr>
        </p:nvSpPr>
        <p:spPr/>
        <p:txBody>
          <a:bodyPr>
            <a:normAutofit/>
          </a:bodyPr>
          <a:lstStyle/>
          <a:p>
            <a:pPr lvl="0"/>
            <a:r>
              <a:rPr lang="en-US" sz="1800" b="1" dirty="0">
                <a:latin typeface="Times New Roman" panose="02020603050405020304" pitchFamily="18" charset="0"/>
                <a:cs typeface="Times New Roman" panose="02020603050405020304" pitchFamily="18" charset="0"/>
              </a:rPr>
              <a:t>Timely recognition and isolation </a:t>
            </a:r>
          </a:p>
          <a:p>
            <a:pPr lvl="0"/>
            <a:r>
              <a:rPr lang="en-US" sz="1800" b="1" dirty="0">
                <a:latin typeface="Times New Roman" panose="02020603050405020304" pitchFamily="18" charset="0"/>
                <a:cs typeface="Times New Roman" panose="02020603050405020304" pitchFamily="18" charset="0"/>
              </a:rPr>
              <a:t>Personal protective equipment use</a:t>
            </a:r>
          </a:p>
          <a:p>
            <a:pPr lvl="0"/>
            <a:r>
              <a:rPr lang="en-US" sz="1800" b="1" dirty="0">
                <a:latin typeface="Times New Roman" panose="02020603050405020304" pitchFamily="18" charset="0"/>
                <a:cs typeface="Times New Roman" panose="02020603050405020304" pitchFamily="18" charset="0"/>
              </a:rPr>
              <a:t>Protection of healthcare workers, patients, and visitors</a:t>
            </a:r>
          </a:p>
          <a:p>
            <a:pPr lvl="0"/>
            <a:r>
              <a:rPr lang="en-US" sz="1800" b="1" dirty="0">
                <a:latin typeface="Times New Roman" panose="02020603050405020304" pitchFamily="18" charset="0"/>
                <a:cs typeface="Times New Roman" panose="02020603050405020304" pitchFamily="18" charset="0"/>
              </a:rPr>
              <a:t>Proper reporting to the Tennessee Department of Health </a:t>
            </a:r>
          </a:p>
          <a:p>
            <a:pPr lvl="0"/>
            <a:r>
              <a:rPr lang="en-US" sz="1800" b="1" dirty="0">
                <a:latin typeface="Times New Roman" panose="02020603050405020304" pitchFamily="18" charset="0"/>
                <a:cs typeface="Times New Roman" panose="02020603050405020304" pitchFamily="18" charset="0"/>
              </a:rPr>
              <a:t>Information management both internal and external</a:t>
            </a:r>
          </a:p>
          <a:p>
            <a:pPr lvl="0"/>
            <a:r>
              <a:rPr lang="en-US" sz="1800" b="1" dirty="0">
                <a:latin typeface="Times New Roman" panose="02020603050405020304" pitchFamily="18" charset="0"/>
                <a:cs typeface="Times New Roman" panose="02020603050405020304" pitchFamily="18" charset="0"/>
              </a:rPr>
              <a:t>Surveillance, contact tracing, and movement monitoring</a:t>
            </a:r>
          </a:p>
          <a:p>
            <a:pPr lvl="0"/>
            <a:r>
              <a:rPr lang="en-US" sz="1800" b="1" dirty="0">
                <a:latin typeface="Times New Roman" panose="02020603050405020304" pitchFamily="18" charset="0"/>
                <a:cs typeface="Times New Roman" panose="02020603050405020304" pitchFamily="18" charset="0"/>
              </a:rPr>
              <a:t>Maintaining normal hospital operations</a:t>
            </a:r>
          </a:p>
          <a:p>
            <a:pPr lvl="0"/>
            <a:r>
              <a:rPr lang="en-US" sz="1800" b="1" dirty="0">
                <a:latin typeface="Times New Roman" panose="02020603050405020304" pitchFamily="18" charset="0"/>
                <a:cs typeface="Times New Roman" panose="02020603050405020304" pitchFamily="18" charset="0"/>
              </a:rPr>
              <a:t>Laboratory services coordination </a:t>
            </a:r>
          </a:p>
          <a:p>
            <a:pPr lvl="0"/>
            <a:r>
              <a:rPr lang="en-US" sz="1800" b="1" dirty="0">
                <a:latin typeface="Times New Roman" panose="02020603050405020304" pitchFamily="18" charset="0"/>
                <a:cs typeface="Times New Roman" panose="02020603050405020304" pitchFamily="18" charset="0"/>
              </a:rPr>
              <a:t>Environmental and waste management</a:t>
            </a:r>
          </a:p>
          <a:p>
            <a:pPr lvl="0"/>
            <a:r>
              <a:rPr lang="en-US" sz="1800" b="1" dirty="0">
                <a:latin typeface="Times New Roman" panose="02020603050405020304" pitchFamily="18" charset="0"/>
                <a:cs typeface="Times New Roman" panose="02020603050405020304" pitchFamily="18" charset="0"/>
              </a:rPr>
              <a:t>Patient transportation</a:t>
            </a:r>
            <a:endParaRPr lang="en-US" sz="1800" dirty="0"/>
          </a:p>
        </p:txBody>
      </p:sp>
    </p:spTree>
    <p:extLst>
      <p:ext uri="{BB962C8B-B14F-4D97-AF65-F5344CB8AC3E}">
        <p14:creationId xmlns:p14="http://schemas.microsoft.com/office/powerpoint/2010/main" val="1682893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6F20-19E9-4A3C-BC89-C6ED9C755024}"/>
              </a:ext>
            </a:extLst>
          </p:cNvPr>
          <p:cNvSpPr>
            <a:spLocks noGrp="1"/>
          </p:cNvSpPr>
          <p:nvPr>
            <p:ph type="title"/>
          </p:nvPr>
        </p:nvSpPr>
        <p:spPr/>
        <p:txBody>
          <a:bodyPr/>
          <a:lstStyle/>
          <a:p>
            <a:r>
              <a:rPr lang="en-US" b="1" dirty="0">
                <a:solidFill>
                  <a:srgbClr val="FFFF00"/>
                </a:solidFill>
              </a:rPr>
              <a:t>Quarantine vs Isolation</a:t>
            </a:r>
          </a:p>
        </p:txBody>
      </p:sp>
      <p:sp>
        <p:nvSpPr>
          <p:cNvPr id="3" name="Text Placeholder 2">
            <a:extLst>
              <a:ext uri="{FF2B5EF4-FFF2-40B4-BE49-F238E27FC236}">
                <a16:creationId xmlns:a16="http://schemas.microsoft.com/office/drawing/2014/main" id="{A105CC2D-AC34-484F-9E95-488C74C7F9FE}"/>
              </a:ext>
            </a:extLst>
          </p:cNvPr>
          <p:cNvSpPr>
            <a:spLocks noGrp="1"/>
          </p:cNvSpPr>
          <p:nvPr>
            <p:ph type="body" idx="1"/>
          </p:nvPr>
        </p:nvSpPr>
        <p:spPr/>
        <p:txBody>
          <a:bodyPr/>
          <a:lstStyle/>
          <a:p>
            <a:r>
              <a:rPr lang="en-US" dirty="0"/>
              <a:t>Quarantine</a:t>
            </a:r>
          </a:p>
        </p:txBody>
      </p:sp>
      <p:sp>
        <p:nvSpPr>
          <p:cNvPr id="4" name="Content Placeholder 3">
            <a:extLst>
              <a:ext uri="{FF2B5EF4-FFF2-40B4-BE49-F238E27FC236}">
                <a16:creationId xmlns:a16="http://schemas.microsoft.com/office/drawing/2014/main" id="{17484A0C-9920-4FD2-B149-8270AB8FB608}"/>
              </a:ext>
            </a:extLst>
          </p:cNvPr>
          <p:cNvSpPr>
            <a:spLocks noGrp="1"/>
          </p:cNvSpPr>
          <p:nvPr>
            <p:ph sz="half" idx="2"/>
          </p:nvPr>
        </p:nvSpPr>
        <p:spPr>
          <a:xfrm>
            <a:off x="536879" y="2036806"/>
            <a:ext cx="4040188" cy="2821918"/>
          </a:xfrm>
        </p:spPr>
        <p:txBody>
          <a:bodyPr>
            <a:normAutofit fontScale="55000" lnSpcReduction="20000"/>
          </a:bodyPr>
          <a:lstStyle/>
          <a:p>
            <a:pPr algn="l">
              <a:buFont typeface="Wingdings" panose="05000000000000000000" pitchFamily="2" charset="2"/>
              <a:buChar char="ü"/>
            </a:pPr>
            <a:r>
              <a:rPr lang="en-US" sz="2900" b="0" i="0" dirty="0">
                <a:solidFill>
                  <a:srgbClr val="000000"/>
                </a:solidFill>
                <a:effectLst/>
                <a:latin typeface="Times New Roman" panose="02020603050405020304" pitchFamily="18" charset="0"/>
                <a:cs typeface="Times New Roman" panose="02020603050405020304" pitchFamily="18" charset="0"/>
              </a:rPr>
              <a:t>Stay home for 14 days after your last contact with a person who has COVID-19.</a:t>
            </a:r>
          </a:p>
          <a:p>
            <a:pPr algn="l">
              <a:buFont typeface="Wingdings" panose="05000000000000000000" pitchFamily="2" charset="2"/>
              <a:buChar char="ü"/>
            </a:pPr>
            <a:endParaRPr lang="en-US" sz="2900" b="0" i="0" dirty="0">
              <a:solidFill>
                <a:srgbClr val="00000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ü"/>
            </a:pPr>
            <a:r>
              <a:rPr lang="en-US" sz="2900" b="0" i="0" dirty="0">
                <a:solidFill>
                  <a:srgbClr val="000000"/>
                </a:solidFill>
                <a:effectLst/>
                <a:latin typeface="Times New Roman" panose="02020603050405020304" pitchFamily="18" charset="0"/>
                <a:cs typeface="Times New Roman" panose="02020603050405020304" pitchFamily="18" charset="0"/>
              </a:rPr>
              <a:t>Watch for fever (100.4◦F), cough, shortness of breath, or </a:t>
            </a:r>
            <a:r>
              <a:rPr lang="en-US" sz="2900" dirty="0">
                <a:latin typeface="Times New Roman" panose="02020603050405020304" pitchFamily="18" charset="0"/>
                <a:cs typeface="Times New Roman" panose="02020603050405020304" pitchFamily="18" charset="0"/>
              </a:rPr>
              <a:t>other symptoms</a:t>
            </a:r>
            <a:r>
              <a:rPr lang="en-US" sz="2900" b="0" i="0" dirty="0">
                <a:effectLst/>
                <a:latin typeface="Times New Roman" panose="02020603050405020304" pitchFamily="18" charset="0"/>
                <a:cs typeface="Times New Roman" panose="02020603050405020304" pitchFamily="18" charset="0"/>
              </a:rPr>
              <a:t> </a:t>
            </a:r>
            <a:r>
              <a:rPr lang="en-US" sz="2900" b="0" i="0" dirty="0">
                <a:solidFill>
                  <a:srgbClr val="000000"/>
                </a:solidFill>
                <a:effectLst/>
                <a:latin typeface="Times New Roman" panose="02020603050405020304" pitchFamily="18" charset="0"/>
                <a:cs typeface="Times New Roman" panose="02020603050405020304" pitchFamily="18" charset="0"/>
              </a:rPr>
              <a:t>of COVID-19.</a:t>
            </a:r>
          </a:p>
          <a:p>
            <a:pPr marL="0" indent="0" algn="l">
              <a:buNone/>
            </a:pPr>
            <a:endParaRPr lang="en-US" sz="2900" b="0" i="0" dirty="0">
              <a:solidFill>
                <a:srgbClr val="000000"/>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ü"/>
            </a:pPr>
            <a:r>
              <a:rPr lang="en-US" sz="2900" b="0" i="0" dirty="0">
                <a:solidFill>
                  <a:srgbClr val="000000"/>
                </a:solidFill>
                <a:effectLst/>
                <a:latin typeface="Times New Roman" panose="02020603050405020304" pitchFamily="18" charset="0"/>
                <a:cs typeface="Times New Roman" panose="02020603050405020304" pitchFamily="18" charset="0"/>
              </a:rPr>
              <a:t>If possible, stay away from people you live with, especially people who are at higher risk for getting very sick from COVID-19.</a:t>
            </a:r>
          </a:p>
          <a:p>
            <a:endParaRPr lang="en-US" dirty="0"/>
          </a:p>
        </p:txBody>
      </p:sp>
      <p:sp>
        <p:nvSpPr>
          <p:cNvPr id="5" name="Text Placeholder 4">
            <a:extLst>
              <a:ext uri="{FF2B5EF4-FFF2-40B4-BE49-F238E27FC236}">
                <a16:creationId xmlns:a16="http://schemas.microsoft.com/office/drawing/2014/main" id="{C0BE5749-B492-48FF-BE2F-95312164A341}"/>
              </a:ext>
            </a:extLst>
          </p:cNvPr>
          <p:cNvSpPr>
            <a:spLocks noGrp="1"/>
          </p:cNvSpPr>
          <p:nvPr>
            <p:ph type="body" sz="quarter" idx="3"/>
          </p:nvPr>
        </p:nvSpPr>
        <p:spPr/>
        <p:txBody>
          <a:bodyPr/>
          <a:lstStyle/>
          <a:p>
            <a:r>
              <a:rPr lang="en-US" dirty="0"/>
              <a:t>Isolation</a:t>
            </a:r>
          </a:p>
        </p:txBody>
      </p:sp>
      <p:sp>
        <p:nvSpPr>
          <p:cNvPr id="6" name="Content Placeholder 5">
            <a:extLst>
              <a:ext uri="{FF2B5EF4-FFF2-40B4-BE49-F238E27FC236}">
                <a16:creationId xmlns:a16="http://schemas.microsoft.com/office/drawing/2014/main" id="{A153132C-7480-46CC-9F5B-F6609C928BD7}"/>
              </a:ext>
            </a:extLst>
          </p:cNvPr>
          <p:cNvSpPr>
            <a:spLocks noGrp="1"/>
          </p:cNvSpPr>
          <p:nvPr>
            <p:ph sz="quarter" idx="4"/>
          </p:nvPr>
        </p:nvSpPr>
        <p:spPr>
          <a:xfrm>
            <a:off x="4572000" y="2036805"/>
            <a:ext cx="4275740" cy="2992506"/>
          </a:xfrm>
        </p:spPr>
        <p:txBody>
          <a:bodyPr>
            <a:normAutofit fontScale="47500" lnSpcReduction="20000"/>
          </a:bodyPr>
          <a:lstStyle/>
          <a:p>
            <a:pPr algn="l">
              <a:buFont typeface="Wingdings" panose="05000000000000000000" pitchFamily="2" charset="2"/>
              <a:buChar char="ü"/>
            </a:pPr>
            <a:r>
              <a:rPr lang="en-US" sz="3400" b="0" i="0" dirty="0">
                <a:effectLst/>
                <a:latin typeface="Times New Roman" panose="02020603050405020304" pitchFamily="18" charset="0"/>
                <a:cs typeface="Times New Roman" panose="02020603050405020304" pitchFamily="18" charset="0"/>
              </a:rPr>
              <a:t>Monitor your symptoms. If you have an emergency warning sign (including trouble breathing), seek emergency medical care immediately.</a:t>
            </a:r>
          </a:p>
          <a:p>
            <a:pPr algn="l">
              <a:buFont typeface="Wingdings" panose="05000000000000000000" pitchFamily="2" charset="2"/>
              <a:buChar char="ü"/>
            </a:pPr>
            <a:r>
              <a:rPr lang="en-US" sz="3400" b="0" i="0" dirty="0">
                <a:effectLst/>
                <a:latin typeface="Times New Roman" panose="02020603050405020304" pitchFamily="18" charset="0"/>
                <a:cs typeface="Times New Roman" panose="02020603050405020304" pitchFamily="18" charset="0"/>
              </a:rPr>
              <a:t>Stay in a separate room from other household members, if possible.</a:t>
            </a:r>
          </a:p>
          <a:p>
            <a:pPr algn="l">
              <a:buFont typeface="Wingdings" panose="05000000000000000000" pitchFamily="2" charset="2"/>
              <a:buChar char="ü"/>
            </a:pPr>
            <a:r>
              <a:rPr lang="en-US" sz="3400" b="0" i="0" dirty="0">
                <a:effectLst/>
                <a:latin typeface="Times New Roman" panose="02020603050405020304" pitchFamily="18" charset="0"/>
                <a:cs typeface="Times New Roman" panose="02020603050405020304" pitchFamily="18" charset="0"/>
              </a:rPr>
              <a:t>Use a separate bathroom, if possible.</a:t>
            </a:r>
          </a:p>
          <a:p>
            <a:pPr algn="l">
              <a:buFont typeface="Wingdings" panose="05000000000000000000" pitchFamily="2" charset="2"/>
              <a:buChar char="ü"/>
            </a:pPr>
            <a:r>
              <a:rPr lang="en-US" sz="3400" b="0" i="0" dirty="0">
                <a:effectLst/>
                <a:latin typeface="Times New Roman" panose="02020603050405020304" pitchFamily="18" charset="0"/>
                <a:cs typeface="Times New Roman" panose="02020603050405020304" pitchFamily="18" charset="0"/>
              </a:rPr>
              <a:t>Avoid contact with other members of the household and pets.</a:t>
            </a:r>
          </a:p>
          <a:p>
            <a:pPr algn="l">
              <a:buFont typeface="Wingdings" panose="05000000000000000000" pitchFamily="2" charset="2"/>
              <a:buChar char="ü"/>
            </a:pPr>
            <a:r>
              <a:rPr lang="en-US" sz="3400" b="0" i="0" dirty="0">
                <a:effectLst/>
                <a:latin typeface="Times New Roman" panose="02020603050405020304" pitchFamily="18" charset="0"/>
                <a:cs typeface="Times New Roman" panose="02020603050405020304" pitchFamily="18" charset="0"/>
              </a:rPr>
              <a:t>Don’t share personal household items, like cups, towels, and utensils.</a:t>
            </a:r>
          </a:p>
          <a:p>
            <a:pPr algn="l">
              <a:buFont typeface="Wingdings" panose="05000000000000000000" pitchFamily="2" charset="2"/>
              <a:buChar char="ü"/>
            </a:pPr>
            <a:r>
              <a:rPr lang="en-US" sz="3400" dirty="0">
                <a:latin typeface="Times New Roman" panose="02020603050405020304" pitchFamily="18" charset="0"/>
                <a:cs typeface="Times New Roman" panose="02020603050405020304" pitchFamily="18" charset="0"/>
              </a:rPr>
              <a:t>Wear a mask</a:t>
            </a:r>
            <a:r>
              <a:rPr lang="en-US" sz="3400" b="0" i="0" dirty="0">
                <a:effectLst/>
                <a:latin typeface="Times New Roman" panose="02020603050405020304" pitchFamily="18" charset="0"/>
                <a:cs typeface="Times New Roman" panose="02020603050405020304" pitchFamily="18" charset="0"/>
              </a:rPr>
              <a:t> when around other people if able.</a:t>
            </a:r>
          </a:p>
          <a:p>
            <a:endParaRPr lang="en-US" dirty="0"/>
          </a:p>
        </p:txBody>
      </p:sp>
    </p:spTree>
    <p:extLst>
      <p:ext uri="{BB962C8B-B14F-4D97-AF65-F5344CB8AC3E}">
        <p14:creationId xmlns:p14="http://schemas.microsoft.com/office/powerpoint/2010/main" val="3108879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477DC-2EEA-48EC-8456-2AB157319A2C}"/>
              </a:ext>
            </a:extLst>
          </p:cNvPr>
          <p:cNvSpPr>
            <a:spLocks noGrp="1"/>
          </p:cNvSpPr>
          <p:nvPr>
            <p:ph type="title"/>
          </p:nvPr>
        </p:nvSpPr>
        <p:spPr/>
        <p:txBody>
          <a:bodyPr>
            <a:normAutofit fontScale="90000"/>
          </a:bodyPr>
          <a:lstStyle/>
          <a:p>
            <a:r>
              <a:rPr lang="en-US" b="1" dirty="0">
                <a:solidFill>
                  <a:srgbClr val="FFFF00"/>
                </a:solidFill>
                <a:latin typeface="Arial" panose="020B0604020202020204" pitchFamily="34" charset="0"/>
                <a:cs typeface="Arial" panose="020B0604020202020204" pitchFamily="34" charset="0"/>
              </a:rPr>
              <a:t>Vaccination</a:t>
            </a:r>
            <a:endParaRPr lang="en-US" dirty="0"/>
          </a:p>
        </p:txBody>
      </p:sp>
      <p:sp>
        <p:nvSpPr>
          <p:cNvPr id="3" name="Content Placeholder 2">
            <a:extLst>
              <a:ext uri="{FF2B5EF4-FFF2-40B4-BE49-F238E27FC236}">
                <a16:creationId xmlns:a16="http://schemas.microsoft.com/office/drawing/2014/main" id="{776D077D-E4EB-453D-8402-188AB3580AE2}"/>
              </a:ext>
            </a:extLst>
          </p:cNvPr>
          <p:cNvSpPr>
            <a:spLocks noGrp="1"/>
          </p:cNvSpPr>
          <p:nvPr>
            <p:ph idx="1"/>
          </p:nvPr>
        </p:nvSpPr>
        <p:spPr>
          <a:xfrm>
            <a:off x="2281425" y="1044700"/>
            <a:ext cx="6719020" cy="397033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In Bangladesh, from 3 January 2020 to 6:30pm CEST, 30 July 2021, there have been 1,240,115 confirmed cases of COVID-19 with 20,467 deaths, reported to WHO. As of 9 August 2021, a total of 19,671,620 vaccine doses have been administered.</a:t>
            </a:r>
          </a:p>
          <a:p>
            <a:pPr marL="0" indent="0">
              <a:buNone/>
            </a:pPr>
            <a:r>
              <a:rPr lang="en-US" sz="2000" dirty="0">
                <a:latin typeface="Times New Roman" panose="02020603050405020304" pitchFamily="18" charset="0"/>
                <a:cs typeface="Times New Roman" panose="02020603050405020304" pitchFamily="18" charset="0"/>
              </a:rPr>
              <a:t>Bangladesh has administered at least 11,734,447 doses of COVID vaccines so far. Assuming every person needs 2 doses, that’s enough to have vaccinated about 3.6% of the country’s population. 8,018,681 persons vaccinated with at least one dose.</a:t>
            </a:r>
          </a:p>
          <a:p>
            <a:pPr marL="0" indent="0">
              <a:buNone/>
            </a:pPr>
            <a:r>
              <a:rPr lang="en-US" sz="2000" dirty="0">
                <a:latin typeface="Times New Roman" panose="02020603050405020304" pitchFamily="18" charset="0"/>
                <a:cs typeface="Times New Roman" panose="02020603050405020304" pitchFamily="18" charset="0"/>
              </a:rPr>
              <a:t>During the last week reported, Bangladesh averaged about 85,962 doses administered each day. At that rate, it will take a further 380 days to administer enough doses for another 10% of the population.</a:t>
            </a:r>
          </a:p>
        </p:txBody>
      </p:sp>
    </p:spTree>
    <p:extLst>
      <p:ext uri="{BB962C8B-B14F-4D97-AF65-F5344CB8AC3E}">
        <p14:creationId xmlns:p14="http://schemas.microsoft.com/office/powerpoint/2010/main" val="303699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6015" y="1502815"/>
            <a:ext cx="5666936" cy="400110"/>
          </a:xfrm>
          <a:prstGeom prst="rect">
            <a:avLst/>
          </a:prstGeom>
        </p:spPr>
        <p:txBody>
          <a:bodyPr wrap="none">
            <a:spAutoFit/>
          </a:bodyPr>
          <a:lstStyle/>
          <a:p>
            <a:r>
              <a:rPr lang="en-US" sz="2000" b="1" u="sng" dirty="0">
                <a:latin typeface="Arial" panose="020B0604020202020204" pitchFamily="34" charset="0"/>
                <a:cs typeface="Arial" panose="020B0604020202020204" pitchFamily="34" charset="0"/>
              </a:rPr>
              <a:t>COVID Dataset of Bangladesh (division wise)</a:t>
            </a:r>
          </a:p>
        </p:txBody>
      </p:sp>
      <p:sp>
        <p:nvSpPr>
          <p:cNvPr id="4" name="Rectangle 3"/>
          <p:cNvSpPr/>
          <p:nvPr/>
        </p:nvSpPr>
        <p:spPr>
          <a:xfrm>
            <a:off x="1206776" y="2724455"/>
            <a:ext cx="6256330" cy="1477328"/>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This COVID cases dataset of Bangladesh is 20</a:t>
            </a:r>
            <a:r>
              <a:rPr lang="en-US" sz="2400" baseline="30000" dirty="0">
                <a:solidFill>
                  <a:srgbClr val="000000"/>
                </a:solidFill>
                <a:latin typeface="Times New Roman" panose="02020603050405020304" pitchFamily="18" charset="0"/>
                <a:cs typeface="Times New Roman" panose="02020603050405020304" pitchFamily="18" charset="0"/>
              </a:rPr>
              <a:t>th</a:t>
            </a:r>
            <a:r>
              <a:rPr lang="en-US" sz="2400" dirty="0">
                <a:solidFill>
                  <a:srgbClr val="000000"/>
                </a:solidFill>
                <a:latin typeface="Times New Roman" panose="02020603050405020304" pitchFamily="18" charset="0"/>
                <a:cs typeface="Times New Roman" panose="02020603050405020304" pitchFamily="18" charset="0"/>
              </a:rPr>
              <a:t> march 2020 to date till 02 July 2021.</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shape – row 489, column - 37</a:t>
            </a:r>
          </a:p>
          <a:p>
            <a:r>
              <a:rPr lang="en-US" dirty="0">
                <a:solidFill>
                  <a:srgbClr val="000000"/>
                </a:solidFill>
                <a:latin typeface="Helvetica Neue"/>
              </a:rPr>
              <a:t> </a:t>
            </a:r>
            <a:endParaRPr lang="en-US" dirty="0"/>
          </a:p>
        </p:txBody>
      </p:sp>
      <p:sp>
        <p:nvSpPr>
          <p:cNvPr id="5" name="TextBox 4"/>
          <p:cNvSpPr txBox="1"/>
          <p:nvPr/>
        </p:nvSpPr>
        <p:spPr>
          <a:xfrm>
            <a:off x="6557165" y="433880"/>
            <a:ext cx="2151679" cy="646331"/>
          </a:xfrm>
          <a:prstGeom prst="rect">
            <a:avLst/>
          </a:prstGeom>
          <a:noFill/>
        </p:spPr>
        <p:txBody>
          <a:bodyPr wrap="none" rtlCol="0">
            <a:spAutoFit/>
          </a:bodyPr>
          <a:lstStyle/>
          <a:p>
            <a:r>
              <a:rPr lang="en-US" sz="3600" b="1" dirty="0">
                <a:solidFill>
                  <a:srgbClr val="FFFF00"/>
                </a:solidFill>
                <a:latin typeface="Arial Black" panose="020B0A04020102020204" pitchFamily="34" charset="0"/>
                <a:cs typeface="Arial" panose="020B0604020202020204" pitchFamily="34" charset="0"/>
              </a:rPr>
              <a:t>Dataset</a:t>
            </a:r>
          </a:p>
        </p:txBody>
      </p:sp>
    </p:spTree>
    <p:extLst>
      <p:ext uri="{BB962C8B-B14F-4D97-AF65-F5344CB8AC3E}">
        <p14:creationId xmlns:p14="http://schemas.microsoft.com/office/powerpoint/2010/main" val="427744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3B8D8-E504-42FB-B04E-17FB293C37EA}"/>
              </a:ext>
            </a:extLst>
          </p:cNvPr>
          <p:cNvSpPr>
            <a:spLocks noGrp="1"/>
          </p:cNvSpPr>
          <p:nvPr>
            <p:ph type="title"/>
          </p:nvPr>
        </p:nvSpPr>
        <p:spPr/>
        <p:txBody>
          <a:bodyPr>
            <a:noAutofit/>
          </a:bodyPr>
          <a:lstStyle/>
          <a:p>
            <a:r>
              <a:rPr lang="en-US" sz="4000" dirty="0">
                <a:solidFill>
                  <a:srgbClr val="FFFF00"/>
                </a:solidFill>
                <a:latin typeface="Arial Rounded MT Bold" panose="020F0704030504030204" pitchFamily="34" charset="0"/>
              </a:rPr>
              <a:t>Components</a:t>
            </a:r>
          </a:p>
        </p:txBody>
      </p:sp>
      <p:sp>
        <p:nvSpPr>
          <p:cNvPr id="3" name="Content Placeholder 2">
            <a:extLst>
              <a:ext uri="{FF2B5EF4-FFF2-40B4-BE49-F238E27FC236}">
                <a16:creationId xmlns:a16="http://schemas.microsoft.com/office/drawing/2014/main" id="{DC49509A-3D04-4672-BDF2-6E35D9675CA5}"/>
              </a:ext>
            </a:extLst>
          </p:cNvPr>
          <p:cNvSpPr>
            <a:spLocks noGrp="1"/>
          </p:cNvSpPr>
          <p:nvPr>
            <p:ph idx="1"/>
          </p:nvPr>
        </p:nvSpPr>
        <p:spPr/>
        <p:txBody>
          <a:bodyPr>
            <a:normAutofit lnSpcReduction="10000"/>
          </a:bodyPr>
          <a:lstStyle/>
          <a:p>
            <a:pPr marL="0" indent="0">
              <a:buNone/>
            </a:pPr>
            <a:r>
              <a:rPr lang="en-US" sz="2800" dirty="0">
                <a:latin typeface="Arial" panose="020B0604020202020204" pitchFamily="34" charset="0"/>
                <a:cs typeface="Arial" panose="020B0604020202020204" pitchFamily="34" charset="0"/>
              </a:rPr>
              <a:t>                  </a:t>
            </a:r>
            <a:r>
              <a:rPr lang="en-US" sz="3200" u="sng" dirty="0">
                <a:latin typeface="Times New Roman" panose="02020603050405020304" pitchFamily="18" charset="0"/>
                <a:cs typeface="Times New Roman" panose="02020603050405020304" pitchFamily="18" charset="0"/>
              </a:rPr>
              <a:t>Python Library</a:t>
            </a:r>
            <a:r>
              <a:rPr lang="en-US" sz="3200" u="sng"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Numpy</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Pandas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Matplotlib</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Seaborn</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Software: </a:t>
            </a:r>
            <a:r>
              <a:rPr lang="en-US" sz="2800" dirty="0">
                <a:latin typeface="Times New Roman" panose="02020603050405020304" pitchFamily="18" charset="0"/>
                <a:cs typeface="Times New Roman" panose="02020603050405020304" pitchFamily="18" charset="0"/>
              </a:rPr>
              <a:t>Colab, Jypiter</a:t>
            </a:r>
          </a:p>
          <a:p>
            <a:endParaRPr lang="en-US" dirty="0"/>
          </a:p>
        </p:txBody>
      </p:sp>
    </p:spTree>
    <p:extLst>
      <p:ext uri="{BB962C8B-B14F-4D97-AF65-F5344CB8AC3E}">
        <p14:creationId xmlns:p14="http://schemas.microsoft.com/office/powerpoint/2010/main" val="2604656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1670" y="1655520"/>
            <a:ext cx="8398775" cy="3046988"/>
          </a:xfrm>
          <a:prstGeom prst="rect">
            <a:avLst/>
          </a:prstGeom>
        </p:spPr>
        <p:txBody>
          <a:bodyPr wrap="square">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This CSV file contains Confirmed covid cases, covid case rate, covid deaths, and covid death rate of Barisal, Chattogram, Dhaka, Khulna, Mymensingh, Rajshahi, Rangpur, Sylhet and finally all over Bangladesh. This covid cases dataset of Bangladesh is up to 20</a:t>
            </a:r>
            <a:r>
              <a:rPr lang="en-US" sz="2400" baseline="30000" dirty="0">
                <a:solidFill>
                  <a:srgbClr val="000000"/>
                </a:solidFill>
                <a:latin typeface="Times New Roman" panose="02020603050405020304" pitchFamily="18" charset="0"/>
                <a:cs typeface="Times New Roman" panose="02020603050405020304" pitchFamily="18" charset="0"/>
              </a:rPr>
              <a:t>th</a:t>
            </a:r>
            <a:r>
              <a:rPr lang="en-US" sz="2400" dirty="0">
                <a:solidFill>
                  <a:srgbClr val="000000"/>
                </a:solidFill>
                <a:latin typeface="Times New Roman" panose="02020603050405020304" pitchFamily="18" charset="0"/>
                <a:cs typeface="Times New Roman" panose="02020603050405020304" pitchFamily="18" charset="0"/>
              </a:rPr>
              <a:t> march 2020 date till 02 July 2021. I will try to provide a monthly update. You can use this Bangladesh covid dataset in other words covid dataset for Bangladesh in your covid case in Bangladesh-related projects and covid case in Bangladesh analysis.</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113885" y="433880"/>
            <a:ext cx="4370107" cy="646331"/>
          </a:xfrm>
          <a:prstGeom prst="rect">
            <a:avLst/>
          </a:prstGeom>
          <a:noFill/>
        </p:spPr>
        <p:txBody>
          <a:bodyPr wrap="none" rtlCol="0">
            <a:spAutoFit/>
          </a:bodyPr>
          <a:lstStyle/>
          <a:p>
            <a:r>
              <a:rPr lang="en-US" sz="3600" b="1" dirty="0">
                <a:solidFill>
                  <a:srgbClr val="FFFF00"/>
                </a:solidFill>
                <a:latin typeface="Bahnschrift" panose="020B0502040204020203" pitchFamily="34" charset="0"/>
                <a:cs typeface="Arial" panose="020B0604020202020204" pitchFamily="34" charset="0"/>
              </a:rPr>
              <a:t>Data set Description</a:t>
            </a:r>
          </a:p>
        </p:txBody>
      </p:sp>
    </p:spTree>
    <p:extLst>
      <p:ext uri="{BB962C8B-B14F-4D97-AF65-F5344CB8AC3E}">
        <p14:creationId xmlns:p14="http://schemas.microsoft.com/office/powerpoint/2010/main" val="3432124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1670" y="1653197"/>
            <a:ext cx="7539970" cy="3056423"/>
          </a:xfrm>
          <a:prstGeom prst="rect">
            <a:avLst/>
          </a:prstGeom>
        </p:spPr>
      </p:pic>
      <p:sp>
        <p:nvSpPr>
          <p:cNvPr id="3" name="TextBox 2"/>
          <p:cNvSpPr txBox="1"/>
          <p:nvPr/>
        </p:nvSpPr>
        <p:spPr>
          <a:xfrm>
            <a:off x="4259917" y="433880"/>
            <a:ext cx="4485652" cy="646331"/>
          </a:xfrm>
          <a:prstGeom prst="rect">
            <a:avLst/>
          </a:prstGeom>
          <a:noFill/>
        </p:spPr>
        <p:txBody>
          <a:bodyPr wrap="none" rtlCol="0">
            <a:spAutoFit/>
          </a:bodyPr>
          <a:lstStyle/>
          <a:p>
            <a:r>
              <a:rPr lang="en-US" sz="3600" b="1" dirty="0">
                <a:solidFill>
                  <a:srgbClr val="FFFF00"/>
                </a:solidFill>
                <a:latin typeface="Arial Black" panose="020B0A04020102020204" pitchFamily="34" charset="0"/>
                <a:cs typeface="Arial" panose="020B0604020202020204" pitchFamily="34" charset="0"/>
              </a:rPr>
              <a:t>Dataset Columns</a:t>
            </a:r>
          </a:p>
        </p:txBody>
      </p:sp>
    </p:spTree>
    <p:extLst>
      <p:ext uri="{BB962C8B-B14F-4D97-AF65-F5344CB8AC3E}">
        <p14:creationId xmlns:p14="http://schemas.microsoft.com/office/powerpoint/2010/main" val="3077283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4235" y="1884577"/>
            <a:ext cx="4155060" cy="2443280"/>
          </a:xfrm>
          <a:prstGeom prst="rect">
            <a:avLst/>
          </a:prstGeom>
          <a:solidFill>
            <a:srgbClr val="FFFF00"/>
          </a:solidFill>
        </p:spPr>
      </p:pic>
      <p:pic>
        <p:nvPicPr>
          <p:cNvPr id="3" name="Picture 2"/>
          <p:cNvPicPr>
            <a:picLocks noChangeAspect="1"/>
          </p:cNvPicPr>
          <p:nvPr/>
        </p:nvPicPr>
        <p:blipFill>
          <a:blip r:embed="rId3"/>
          <a:stretch>
            <a:fillRect/>
          </a:stretch>
        </p:blipFill>
        <p:spPr>
          <a:xfrm>
            <a:off x="4724706" y="1884577"/>
            <a:ext cx="3729720" cy="2443280"/>
          </a:xfrm>
          <a:prstGeom prst="rect">
            <a:avLst/>
          </a:prstGeom>
        </p:spPr>
      </p:pic>
      <p:sp>
        <p:nvSpPr>
          <p:cNvPr id="4" name="TextBox 3"/>
          <p:cNvSpPr txBox="1"/>
          <p:nvPr/>
        </p:nvSpPr>
        <p:spPr>
          <a:xfrm>
            <a:off x="6557165" y="433880"/>
            <a:ext cx="1723549"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Barisal</a:t>
            </a:r>
          </a:p>
        </p:txBody>
      </p:sp>
      <p:sp>
        <p:nvSpPr>
          <p:cNvPr id="6" name="TextBox 5"/>
          <p:cNvSpPr txBox="1"/>
          <p:nvPr/>
        </p:nvSpPr>
        <p:spPr>
          <a:xfrm>
            <a:off x="3044950" y="1350110"/>
            <a:ext cx="3252429" cy="400110"/>
          </a:xfrm>
          <a:prstGeom prst="rect">
            <a:avLst/>
          </a:prstGeom>
          <a:noFill/>
        </p:spPr>
        <p:txBody>
          <a:bodyPr wrap="none" rtlCol="0">
            <a:spAutoFit/>
          </a:bodyPr>
          <a:lstStyle/>
          <a:p>
            <a:r>
              <a:rPr lang="en-US" sz="2000" b="1" u="sng" dirty="0"/>
              <a:t>Confrimed cases and Deaths</a:t>
            </a:r>
          </a:p>
        </p:txBody>
      </p:sp>
    </p:spTree>
    <p:extLst>
      <p:ext uri="{BB962C8B-B14F-4D97-AF65-F5344CB8AC3E}">
        <p14:creationId xmlns:p14="http://schemas.microsoft.com/office/powerpoint/2010/main" val="886272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555" y="1960930"/>
            <a:ext cx="3953288" cy="2443280"/>
          </a:xfrm>
          <a:prstGeom prst="rect">
            <a:avLst/>
          </a:prstGeom>
        </p:spPr>
      </p:pic>
      <p:pic>
        <p:nvPicPr>
          <p:cNvPr id="3" name="Picture 2"/>
          <p:cNvPicPr>
            <a:picLocks noChangeAspect="1"/>
          </p:cNvPicPr>
          <p:nvPr/>
        </p:nvPicPr>
        <p:blipFill>
          <a:blip r:embed="rId3"/>
          <a:stretch>
            <a:fillRect/>
          </a:stretch>
        </p:blipFill>
        <p:spPr>
          <a:xfrm>
            <a:off x="4266590" y="2020367"/>
            <a:ext cx="4393941" cy="2324405"/>
          </a:xfrm>
          <a:prstGeom prst="rect">
            <a:avLst/>
          </a:prstGeom>
        </p:spPr>
      </p:pic>
      <p:sp>
        <p:nvSpPr>
          <p:cNvPr id="4" name="TextBox 3"/>
          <p:cNvSpPr txBox="1"/>
          <p:nvPr/>
        </p:nvSpPr>
        <p:spPr>
          <a:xfrm>
            <a:off x="6099050" y="433880"/>
            <a:ext cx="2621230"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Chittagong</a:t>
            </a:r>
          </a:p>
        </p:txBody>
      </p:sp>
      <p:sp>
        <p:nvSpPr>
          <p:cNvPr id="5" name="Rectangle 4"/>
          <p:cNvSpPr/>
          <p:nvPr/>
        </p:nvSpPr>
        <p:spPr>
          <a:xfrm>
            <a:off x="3044950" y="1309850"/>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3505318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056" y="2113634"/>
            <a:ext cx="4365239" cy="2393841"/>
          </a:xfrm>
          <a:prstGeom prst="rect">
            <a:avLst/>
          </a:prstGeom>
        </p:spPr>
      </p:pic>
      <p:sp>
        <p:nvSpPr>
          <p:cNvPr id="3" name="TextBox 2"/>
          <p:cNvSpPr txBox="1"/>
          <p:nvPr/>
        </p:nvSpPr>
        <p:spPr>
          <a:xfrm>
            <a:off x="6940966" y="433880"/>
            <a:ext cx="1569660"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Dhaka</a:t>
            </a:r>
          </a:p>
        </p:txBody>
      </p:sp>
      <p:pic>
        <p:nvPicPr>
          <p:cNvPr id="4" name="Picture 3"/>
          <p:cNvPicPr>
            <a:picLocks noChangeAspect="1"/>
          </p:cNvPicPr>
          <p:nvPr/>
        </p:nvPicPr>
        <p:blipFill>
          <a:blip r:embed="rId3"/>
          <a:stretch>
            <a:fillRect/>
          </a:stretch>
        </p:blipFill>
        <p:spPr>
          <a:xfrm>
            <a:off x="4834870" y="2113634"/>
            <a:ext cx="4267810" cy="2395514"/>
          </a:xfrm>
          <a:prstGeom prst="rect">
            <a:avLst/>
          </a:prstGeom>
        </p:spPr>
      </p:pic>
      <p:sp>
        <p:nvSpPr>
          <p:cNvPr id="5" name="Rectangle 4"/>
          <p:cNvSpPr/>
          <p:nvPr/>
        </p:nvSpPr>
        <p:spPr>
          <a:xfrm>
            <a:off x="3415905" y="1502815"/>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183110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5285" y="1916743"/>
            <a:ext cx="4095279" cy="2305127"/>
          </a:xfrm>
          <a:prstGeom prst="rect">
            <a:avLst/>
          </a:prstGeom>
        </p:spPr>
      </p:pic>
      <p:pic>
        <p:nvPicPr>
          <p:cNvPr id="3" name="Picture 2"/>
          <p:cNvPicPr>
            <a:picLocks noChangeAspect="1"/>
          </p:cNvPicPr>
          <p:nvPr/>
        </p:nvPicPr>
        <p:blipFill>
          <a:blip r:embed="rId3"/>
          <a:stretch>
            <a:fillRect/>
          </a:stretch>
        </p:blipFill>
        <p:spPr>
          <a:xfrm>
            <a:off x="4571999" y="1916743"/>
            <a:ext cx="4251963" cy="2310520"/>
          </a:xfrm>
          <a:prstGeom prst="rect">
            <a:avLst/>
          </a:prstGeom>
        </p:spPr>
      </p:pic>
      <p:sp>
        <p:nvSpPr>
          <p:cNvPr id="4" name="TextBox 3"/>
          <p:cNvSpPr txBox="1"/>
          <p:nvPr/>
        </p:nvSpPr>
        <p:spPr>
          <a:xfrm>
            <a:off x="6862575" y="433880"/>
            <a:ext cx="1749197"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Khulna</a:t>
            </a:r>
          </a:p>
        </p:txBody>
      </p:sp>
      <p:sp>
        <p:nvSpPr>
          <p:cNvPr id="5" name="Rectangle 4"/>
          <p:cNvSpPr/>
          <p:nvPr/>
        </p:nvSpPr>
        <p:spPr>
          <a:xfrm>
            <a:off x="3103423" y="1350110"/>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1780056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113635"/>
            <a:ext cx="4514794" cy="2496160"/>
          </a:xfrm>
          <a:prstGeom prst="rect">
            <a:avLst/>
          </a:prstGeom>
        </p:spPr>
      </p:pic>
      <p:sp>
        <p:nvSpPr>
          <p:cNvPr id="3" name="TextBox 2"/>
          <p:cNvSpPr txBox="1"/>
          <p:nvPr/>
        </p:nvSpPr>
        <p:spPr>
          <a:xfrm>
            <a:off x="6052379" y="433880"/>
            <a:ext cx="3005951"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Mymensingh</a:t>
            </a:r>
          </a:p>
        </p:txBody>
      </p:sp>
      <p:pic>
        <p:nvPicPr>
          <p:cNvPr id="4" name="Picture 3"/>
          <p:cNvPicPr>
            <a:picLocks noChangeAspect="1"/>
          </p:cNvPicPr>
          <p:nvPr/>
        </p:nvPicPr>
        <p:blipFill>
          <a:blip r:embed="rId3"/>
          <a:stretch>
            <a:fillRect/>
          </a:stretch>
        </p:blipFill>
        <p:spPr>
          <a:xfrm>
            <a:off x="4747922" y="2113635"/>
            <a:ext cx="4396078" cy="2467020"/>
          </a:xfrm>
          <a:prstGeom prst="rect">
            <a:avLst/>
          </a:prstGeom>
        </p:spPr>
      </p:pic>
      <p:sp>
        <p:nvSpPr>
          <p:cNvPr id="5" name="Rectangle 4"/>
          <p:cNvSpPr/>
          <p:nvPr/>
        </p:nvSpPr>
        <p:spPr>
          <a:xfrm>
            <a:off x="3046218" y="1502815"/>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3419116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742" y="2266340"/>
            <a:ext cx="4432500" cy="2443280"/>
          </a:xfrm>
          <a:prstGeom prst="rect">
            <a:avLst/>
          </a:prstGeom>
        </p:spPr>
      </p:pic>
      <p:sp>
        <p:nvSpPr>
          <p:cNvPr id="3" name="TextBox 2"/>
          <p:cNvSpPr txBox="1"/>
          <p:nvPr/>
        </p:nvSpPr>
        <p:spPr>
          <a:xfrm>
            <a:off x="6099050" y="281175"/>
            <a:ext cx="2108269"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Rajshahi</a:t>
            </a:r>
          </a:p>
        </p:txBody>
      </p:sp>
      <p:pic>
        <p:nvPicPr>
          <p:cNvPr id="4" name="Picture 3"/>
          <p:cNvPicPr>
            <a:picLocks noChangeAspect="1"/>
          </p:cNvPicPr>
          <p:nvPr/>
        </p:nvPicPr>
        <p:blipFill>
          <a:blip r:embed="rId3"/>
          <a:stretch>
            <a:fillRect/>
          </a:stretch>
        </p:blipFill>
        <p:spPr>
          <a:xfrm>
            <a:off x="4572000" y="2266340"/>
            <a:ext cx="4276151" cy="2312252"/>
          </a:xfrm>
          <a:prstGeom prst="rect">
            <a:avLst/>
          </a:prstGeom>
        </p:spPr>
      </p:pic>
      <p:sp>
        <p:nvSpPr>
          <p:cNvPr id="5" name="Rectangle 4"/>
          <p:cNvSpPr/>
          <p:nvPr/>
        </p:nvSpPr>
        <p:spPr>
          <a:xfrm>
            <a:off x="2950719" y="1502815"/>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1484570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555" y="2395836"/>
            <a:ext cx="4258223" cy="2264191"/>
          </a:xfrm>
          <a:prstGeom prst="rect">
            <a:avLst/>
          </a:prstGeom>
        </p:spPr>
      </p:pic>
      <p:pic>
        <p:nvPicPr>
          <p:cNvPr id="3" name="Picture 2"/>
          <p:cNvPicPr>
            <a:picLocks noChangeAspect="1"/>
          </p:cNvPicPr>
          <p:nvPr/>
        </p:nvPicPr>
        <p:blipFill>
          <a:blip r:embed="rId3"/>
          <a:stretch>
            <a:fillRect/>
          </a:stretch>
        </p:blipFill>
        <p:spPr>
          <a:xfrm>
            <a:off x="4706301" y="2395836"/>
            <a:ext cx="4123670" cy="2177332"/>
          </a:xfrm>
          <a:prstGeom prst="rect">
            <a:avLst/>
          </a:prstGeom>
        </p:spPr>
      </p:pic>
      <p:sp>
        <p:nvSpPr>
          <p:cNvPr id="4" name="TextBox 3"/>
          <p:cNvSpPr txBox="1"/>
          <p:nvPr/>
        </p:nvSpPr>
        <p:spPr>
          <a:xfrm>
            <a:off x="6251755" y="281175"/>
            <a:ext cx="2082621"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Rangpur</a:t>
            </a:r>
          </a:p>
        </p:txBody>
      </p:sp>
      <p:sp>
        <p:nvSpPr>
          <p:cNvPr id="5" name="Rectangle 4"/>
          <p:cNvSpPr/>
          <p:nvPr/>
        </p:nvSpPr>
        <p:spPr>
          <a:xfrm>
            <a:off x="3044950" y="1502815"/>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4224415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555" y="2266340"/>
            <a:ext cx="4058729" cy="2214257"/>
          </a:xfrm>
          <a:prstGeom prst="rect">
            <a:avLst/>
          </a:prstGeom>
        </p:spPr>
      </p:pic>
      <p:sp>
        <p:nvSpPr>
          <p:cNvPr id="3" name="TextBox 2"/>
          <p:cNvSpPr txBox="1"/>
          <p:nvPr/>
        </p:nvSpPr>
        <p:spPr>
          <a:xfrm>
            <a:off x="7167985" y="281175"/>
            <a:ext cx="1569660" cy="646331"/>
          </a:xfrm>
          <a:prstGeom prst="rect">
            <a:avLst/>
          </a:prstGeom>
          <a:noFill/>
        </p:spPr>
        <p:txBody>
          <a:bodyPr wrap="none" rtlCol="0">
            <a:spAutoFit/>
          </a:bodyPr>
          <a:lstStyle/>
          <a:p>
            <a:r>
              <a:rPr lang="en-US" sz="3600" b="1" dirty="0">
                <a:solidFill>
                  <a:srgbClr val="FFFF00"/>
                </a:solidFill>
                <a:latin typeface="Arial" panose="020B0604020202020204" pitchFamily="34" charset="0"/>
                <a:cs typeface="Arial" panose="020B0604020202020204" pitchFamily="34" charset="0"/>
              </a:rPr>
              <a:t>Sylhet</a:t>
            </a:r>
          </a:p>
        </p:txBody>
      </p:sp>
      <p:pic>
        <p:nvPicPr>
          <p:cNvPr id="4" name="Picture 3"/>
          <p:cNvPicPr>
            <a:picLocks noChangeAspect="1"/>
          </p:cNvPicPr>
          <p:nvPr/>
        </p:nvPicPr>
        <p:blipFill>
          <a:blip r:embed="rId3"/>
          <a:stretch>
            <a:fillRect/>
          </a:stretch>
        </p:blipFill>
        <p:spPr>
          <a:xfrm>
            <a:off x="4419295" y="2226715"/>
            <a:ext cx="4207246" cy="2253882"/>
          </a:xfrm>
          <a:prstGeom prst="rect">
            <a:avLst/>
          </a:prstGeom>
        </p:spPr>
      </p:pic>
      <p:sp>
        <p:nvSpPr>
          <p:cNvPr id="5" name="Rectangle 4"/>
          <p:cNvSpPr/>
          <p:nvPr/>
        </p:nvSpPr>
        <p:spPr>
          <a:xfrm>
            <a:off x="3044950" y="1350110"/>
            <a:ext cx="2937151" cy="369332"/>
          </a:xfrm>
          <a:prstGeom prst="rect">
            <a:avLst/>
          </a:prstGeom>
        </p:spPr>
        <p:txBody>
          <a:bodyPr wrap="none">
            <a:spAutoFit/>
          </a:bodyPr>
          <a:lstStyle/>
          <a:p>
            <a:r>
              <a:rPr lang="en-US" b="1" u="sng" dirty="0"/>
              <a:t>Confrimed cases and Deaths</a:t>
            </a:r>
          </a:p>
        </p:txBody>
      </p:sp>
    </p:spTree>
    <p:extLst>
      <p:ext uri="{BB962C8B-B14F-4D97-AF65-F5344CB8AC3E}">
        <p14:creationId xmlns:p14="http://schemas.microsoft.com/office/powerpoint/2010/main" val="2679278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2091" y="586585"/>
            <a:ext cx="5331909" cy="461665"/>
          </a:xfrm>
          <a:prstGeom prst="rect">
            <a:avLst/>
          </a:prstGeom>
        </p:spPr>
        <p:txBody>
          <a:bodyPr wrap="none">
            <a:spAutoFit/>
          </a:bodyPr>
          <a:lstStyle/>
          <a:p>
            <a:r>
              <a:rPr lang="en-US" sz="2400" b="1" dirty="0">
                <a:solidFill>
                  <a:srgbClr val="FFFF00"/>
                </a:solidFill>
                <a:latin typeface="Bahnschrift" panose="020B0502040204020203" pitchFamily="34" charset="0"/>
                <a:cs typeface="Arial" panose="020B0604020202020204" pitchFamily="34" charset="0"/>
              </a:rPr>
              <a:t>Confirmed cases all over Bangladesh</a:t>
            </a:r>
            <a:endParaRPr lang="en-US" sz="2400" b="1" dirty="0">
              <a:solidFill>
                <a:srgbClr val="FFFF00"/>
              </a:solidFill>
              <a:effectLst/>
              <a:latin typeface="Bahnschrift" panose="020B0502040204020203" pitchFamily="34" charset="0"/>
              <a:cs typeface="Arial" panose="020B0604020202020204" pitchFamily="34" charset="0"/>
            </a:endParaRPr>
          </a:p>
        </p:txBody>
      </p:sp>
      <p:pic>
        <p:nvPicPr>
          <p:cNvPr id="7" name="Picture 6">
            <a:extLst>
              <a:ext uri="{FF2B5EF4-FFF2-40B4-BE49-F238E27FC236}">
                <a16:creationId xmlns:a16="http://schemas.microsoft.com/office/drawing/2014/main" id="{9498F3CB-78F5-444A-8394-EAAB208DBC1D}"/>
              </a:ext>
            </a:extLst>
          </p:cNvPr>
          <p:cNvPicPr>
            <a:picLocks noChangeAspect="1"/>
          </p:cNvPicPr>
          <p:nvPr/>
        </p:nvPicPr>
        <p:blipFill>
          <a:blip r:embed="rId2"/>
          <a:stretch>
            <a:fillRect/>
          </a:stretch>
        </p:blipFill>
        <p:spPr>
          <a:xfrm>
            <a:off x="1165972" y="1350110"/>
            <a:ext cx="7070948" cy="3744762"/>
          </a:xfrm>
          <a:prstGeom prst="rect">
            <a:avLst/>
          </a:prstGeom>
        </p:spPr>
      </p:pic>
    </p:spTree>
    <p:extLst>
      <p:ext uri="{BB962C8B-B14F-4D97-AF65-F5344CB8AC3E}">
        <p14:creationId xmlns:p14="http://schemas.microsoft.com/office/powerpoint/2010/main" val="734553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4375" y="1247965"/>
            <a:ext cx="7635250" cy="3895535"/>
          </a:xfrm>
          <a:prstGeom prst="rect">
            <a:avLst/>
          </a:prstGeom>
        </p:spPr>
      </p:pic>
      <p:sp>
        <p:nvSpPr>
          <p:cNvPr id="3" name="TextBox 2"/>
          <p:cNvSpPr txBox="1"/>
          <p:nvPr/>
        </p:nvSpPr>
        <p:spPr>
          <a:xfrm>
            <a:off x="3808475" y="586585"/>
            <a:ext cx="5335525" cy="954107"/>
          </a:xfrm>
          <a:prstGeom prst="rect">
            <a:avLst/>
          </a:prstGeom>
          <a:noFill/>
        </p:spPr>
        <p:txBody>
          <a:bodyPr wrap="square" rtlCol="0">
            <a:spAutoFit/>
          </a:bodyPr>
          <a:lstStyle/>
          <a:p>
            <a:r>
              <a:rPr lang="en-US" sz="2800" b="1" dirty="0">
                <a:solidFill>
                  <a:srgbClr val="FFFF00"/>
                </a:solidFill>
                <a:latin typeface="Bahnschrift" panose="020B0502040204020203" pitchFamily="34" charset="0"/>
                <a:cs typeface="Arial" panose="020B0604020202020204" pitchFamily="34" charset="0"/>
              </a:rPr>
              <a:t>Deaths all over Bangladesh</a:t>
            </a:r>
          </a:p>
          <a:p>
            <a:endParaRPr lang="en-US" sz="2800" b="1"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7779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55BEAC-1215-4805-B96E-1445BB51B904}"/>
              </a:ext>
            </a:extLst>
          </p:cNvPr>
          <p:cNvSpPr>
            <a:spLocks noGrp="1"/>
          </p:cNvSpPr>
          <p:nvPr>
            <p:ph idx="1"/>
          </p:nvPr>
        </p:nvSpPr>
        <p:spPr>
          <a:xfrm>
            <a:off x="2281425" y="1960930"/>
            <a:ext cx="5955495" cy="1527050"/>
          </a:xfrm>
        </p:spPr>
        <p:txBody>
          <a:bodyPr>
            <a:normAutofit/>
          </a:bodyPr>
          <a:lstStyle/>
          <a:p>
            <a:pPr marL="0" indent="0">
              <a:buNone/>
            </a:pPr>
            <a:r>
              <a:rPr lang="en-US" sz="6000" i="1" dirty="0">
                <a:solidFill>
                  <a:srgbClr val="FFFF00"/>
                </a:solidFill>
                <a:latin typeface="Arial Rounded MT Bold" panose="020F0704030504030204" pitchFamily="34" charset="0"/>
              </a:rPr>
              <a:t>Coding section</a:t>
            </a:r>
          </a:p>
        </p:txBody>
      </p:sp>
    </p:spTree>
    <p:extLst>
      <p:ext uri="{BB962C8B-B14F-4D97-AF65-F5344CB8AC3E}">
        <p14:creationId xmlns:p14="http://schemas.microsoft.com/office/powerpoint/2010/main" val="3489801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0605" y="2266340"/>
            <a:ext cx="6256330" cy="369332"/>
          </a:xfrm>
          <a:prstGeom prst="rect">
            <a:avLst/>
          </a:prstGeom>
        </p:spPr>
        <p:txBody>
          <a:bodyPr wrap="square">
            <a:spAutoFit/>
          </a:bodyPr>
          <a:lstStyle/>
          <a:p>
            <a:r>
              <a:rPr lang="en-US" b="1" dirty="0">
                <a:solidFill>
                  <a:srgbClr val="24292E"/>
                </a:solidFill>
                <a:latin typeface="-apple-system"/>
              </a:rPr>
              <a:t>Data on COVID-19 (coronavirus) by </a:t>
            </a:r>
            <a:r>
              <a:rPr lang="en-US" b="1" i="1" dirty="0">
                <a:solidFill>
                  <a:srgbClr val="24292E"/>
                </a:solidFill>
                <a:latin typeface="-apple-system"/>
              </a:rPr>
              <a:t>Our World in Data</a:t>
            </a:r>
            <a:endParaRPr lang="en-US" b="1" i="0" dirty="0">
              <a:solidFill>
                <a:srgbClr val="24292E"/>
              </a:solidFill>
              <a:effectLst/>
              <a:latin typeface="-apple-system"/>
            </a:endParaRPr>
          </a:p>
        </p:txBody>
      </p:sp>
      <p:sp>
        <p:nvSpPr>
          <p:cNvPr id="3" name="Rectangle 2"/>
          <p:cNvSpPr/>
          <p:nvPr/>
        </p:nvSpPr>
        <p:spPr>
          <a:xfrm>
            <a:off x="2586835" y="3487980"/>
            <a:ext cx="4237057"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Data shape – row </a:t>
            </a:r>
            <a:r>
              <a:rPr lang="en-US" dirty="0">
                <a:solidFill>
                  <a:srgbClr val="212121"/>
                </a:solidFill>
                <a:latin typeface="Arial" panose="020B0604020202020204" pitchFamily="34" charset="0"/>
                <a:cs typeface="Arial" panose="020B0604020202020204" pitchFamily="34" charset="0"/>
              </a:rPr>
              <a:t>109972</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coloum</a:t>
            </a:r>
            <a:r>
              <a:rPr lang="en-US" dirty="0">
                <a:latin typeface="Arial" panose="020B0604020202020204" pitchFamily="34" charset="0"/>
                <a:cs typeface="Arial" panose="020B0604020202020204" pitchFamily="34" charset="0"/>
              </a:rPr>
              <a:t> - </a:t>
            </a:r>
            <a:r>
              <a:rPr lang="en-US" dirty="0">
                <a:solidFill>
                  <a:srgbClr val="212121"/>
                </a:solidFill>
                <a:latin typeface="Arial" panose="020B0604020202020204" pitchFamily="34" charset="0"/>
                <a:cs typeface="Arial" panose="020B0604020202020204" pitchFamily="34" charset="0"/>
              </a:rPr>
              <a:t>62</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0699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6260" y="1502815"/>
            <a:ext cx="8398774" cy="3486150"/>
          </a:xfrm>
          <a:prstGeom prst="rect">
            <a:avLst/>
          </a:prstGeom>
        </p:spPr>
      </p:pic>
      <p:sp>
        <p:nvSpPr>
          <p:cNvPr id="3" name="TextBox 2"/>
          <p:cNvSpPr txBox="1"/>
          <p:nvPr/>
        </p:nvSpPr>
        <p:spPr>
          <a:xfrm>
            <a:off x="5946345" y="433880"/>
            <a:ext cx="2159566" cy="646331"/>
          </a:xfrm>
          <a:prstGeom prst="rect">
            <a:avLst/>
          </a:prstGeom>
          <a:noFill/>
        </p:spPr>
        <p:txBody>
          <a:bodyPr wrap="none" rtlCol="0">
            <a:spAutoFit/>
          </a:bodyPr>
          <a:lstStyle/>
          <a:p>
            <a:r>
              <a:rPr lang="en-US" sz="3600" b="1" dirty="0">
                <a:solidFill>
                  <a:srgbClr val="FFFF00"/>
                </a:solidFill>
                <a:latin typeface="Arial Rounded MT Bold" panose="020F0704030504030204" pitchFamily="34" charset="0"/>
                <a:cs typeface="Arial" panose="020B0604020202020204" pitchFamily="34" charset="0"/>
              </a:rPr>
              <a:t>Columns</a:t>
            </a:r>
          </a:p>
        </p:txBody>
      </p:sp>
    </p:spTree>
    <p:extLst>
      <p:ext uri="{BB962C8B-B14F-4D97-AF65-F5344CB8AC3E}">
        <p14:creationId xmlns:p14="http://schemas.microsoft.com/office/powerpoint/2010/main" val="898491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7080" y="1808225"/>
            <a:ext cx="6363038" cy="2904023"/>
          </a:xfrm>
          <a:prstGeom prst="rect">
            <a:avLst/>
          </a:prstGeom>
        </p:spPr>
      </p:pic>
      <p:sp>
        <p:nvSpPr>
          <p:cNvPr id="3" name="TextBox 2"/>
          <p:cNvSpPr txBox="1"/>
          <p:nvPr/>
        </p:nvSpPr>
        <p:spPr>
          <a:xfrm>
            <a:off x="5030115" y="281175"/>
            <a:ext cx="3358420" cy="646331"/>
          </a:xfrm>
          <a:prstGeom prst="rect">
            <a:avLst/>
          </a:prstGeom>
          <a:noFill/>
        </p:spPr>
        <p:txBody>
          <a:bodyPr wrap="none" rtlCol="0">
            <a:spAutoFit/>
          </a:bodyPr>
          <a:lstStyle/>
          <a:p>
            <a:r>
              <a:rPr lang="en-US" sz="3600" b="1" dirty="0">
                <a:solidFill>
                  <a:srgbClr val="FFFF00"/>
                </a:solidFill>
                <a:latin typeface="Arial Rounded MT Bold" panose="020F0704030504030204" pitchFamily="34" charset="0"/>
                <a:cs typeface="Arial" panose="020B0604020202020204" pitchFamily="34" charset="0"/>
              </a:rPr>
              <a:t>Train test split</a:t>
            </a:r>
          </a:p>
        </p:txBody>
      </p:sp>
    </p:spTree>
    <p:extLst>
      <p:ext uri="{BB962C8B-B14F-4D97-AF65-F5344CB8AC3E}">
        <p14:creationId xmlns:p14="http://schemas.microsoft.com/office/powerpoint/2010/main" val="1467612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76015" y="1502815"/>
            <a:ext cx="4593739" cy="3214195"/>
          </a:xfrm>
          <a:prstGeom prst="rect">
            <a:avLst/>
          </a:prstGeom>
        </p:spPr>
      </p:pic>
      <p:sp>
        <p:nvSpPr>
          <p:cNvPr id="3" name="TextBox 2"/>
          <p:cNvSpPr txBox="1"/>
          <p:nvPr/>
        </p:nvSpPr>
        <p:spPr>
          <a:xfrm>
            <a:off x="5640935" y="281175"/>
            <a:ext cx="3423758" cy="646331"/>
          </a:xfrm>
          <a:prstGeom prst="rect">
            <a:avLst/>
          </a:prstGeom>
          <a:noFill/>
        </p:spPr>
        <p:txBody>
          <a:bodyPr wrap="none" rtlCol="0">
            <a:spAutoFit/>
          </a:bodyPr>
          <a:lstStyle/>
          <a:p>
            <a:r>
              <a:rPr lang="en-US" sz="3600" b="1" dirty="0">
                <a:solidFill>
                  <a:srgbClr val="FFFF00"/>
                </a:solidFill>
                <a:latin typeface="Arial Black" panose="020B0A04020102020204" pitchFamily="34" charset="0"/>
                <a:cs typeface="Aharoni" panose="02010803020104030203" pitchFamily="2" charset="-79"/>
              </a:rPr>
              <a:t>Model score </a:t>
            </a:r>
          </a:p>
        </p:txBody>
      </p:sp>
    </p:spTree>
    <p:extLst>
      <p:ext uri="{BB962C8B-B14F-4D97-AF65-F5344CB8AC3E}">
        <p14:creationId xmlns:p14="http://schemas.microsoft.com/office/powerpoint/2010/main" val="4112073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4375" y="1350110"/>
            <a:ext cx="7372350" cy="3752850"/>
          </a:xfrm>
          <a:prstGeom prst="rect">
            <a:avLst/>
          </a:prstGeom>
        </p:spPr>
      </p:pic>
      <p:sp>
        <p:nvSpPr>
          <p:cNvPr id="3" name="Rectangle 2"/>
          <p:cNvSpPr/>
          <p:nvPr/>
        </p:nvSpPr>
        <p:spPr>
          <a:xfrm>
            <a:off x="3808475" y="281175"/>
            <a:ext cx="5259773" cy="584775"/>
          </a:xfrm>
          <a:prstGeom prst="rect">
            <a:avLst/>
          </a:prstGeom>
        </p:spPr>
        <p:txBody>
          <a:bodyPr wrap="none">
            <a:spAutoFit/>
          </a:bodyPr>
          <a:lstStyle/>
          <a:p>
            <a:r>
              <a:rPr lang="en-US" sz="3200" b="1" dirty="0">
                <a:solidFill>
                  <a:srgbClr val="FFFF00"/>
                </a:solidFill>
                <a:latin typeface="Arial Rounded MT Bold" panose="020F0704030504030204" pitchFamily="34" charset="0"/>
                <a:cs typeface="Arial" panose="020B0604020202020204" pitchFamily="34" charset="0"/>
              </a:rPr>
              <a:t>Model score visualization </a:t>
            </a:r>
          </a:p>
        </p:txBody>
      </p:sp>
    </p:spTree>
    <p:extLst>
      <p:ext uri="{BB962C8B-B14F-4D97-AF65-F5344CB8AC3E}">
        <p14:creationId xmlns:p14="http://schemas.microsoft.com/office/powerpoint/2010/main" val="2755322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55BEAC-1215-4805-B96E-1445BB51B904}"/>
              </a:ext>
            </a:extLst>
          </p:cNvPr>
          <p:cNvSpPr>
            <a:spLocks noGrp="1"/>
          </p:cNvSpPr>
          <p:nvPr>
            <p:ph idx="1"/>
          </p:nvPr>
        </p:nvSpPr>
        <p:spPr>
          <a:xfrm>
            <a:off x="2281425" y="1960930"/>
            <a:ext cx="5955495" cy="1527050"/>
          </a:xfrm>
        </p:spPr>
        <p:txBody>
          <a:bodyPr>
            <a:normAutofit/>
          </a:bodyPr>
          <a:lstStyle/>
          <a:p>
            <a:pPr marL="0" indent="0">
              <a:buNone/>
            </a:pPr>
            <a:r>
              <a:rPr lang="en-US" sz="6000" i="1" dirty="0">
                <a:solidFill>
                  <a:srgbClr val="FFFF00"/>
                </a:solidFill>
                <a:latin typeface="Arial Rounded MT Bold" panose="020F0704030504030204" pitchFamily="34" charset="0"/>
              </a:rPr>
              <a:t>Coding section</a:t>
            </a:r>
          </a:p>
        </p:txBody>
      </p:sp>
    </p:spTree>
    <p:extLst>
      <p:ext uri="{BB962C8B-B14F-4D97-AF65-F5344CB8AC3E}">
        <p14:creationId xmlns:p14="http://schemas.microsoft.com/office/powerpoint/2010/main" val="788264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555" y="1655520"/>
            <a:ext cx="8839200" cy="2486025"/>
          </a:xfrm>
          <a:prstGeom prst="rect">
            <a:avLst/>
          </a:prstGeom>
        </p:spPr>
      </p:pic>
      <p:sp>
        <p:nvSpPr>
          <p:cNvPr id="3" name="Rectangle 2"/>
          <p:cNvSpPr/>
          <p:nvPr/>
        </p:nvSpPr>
        <p:spPr>
          <a:xfrm>
            <a:off x="3655770" y="4404210"/>
            <a:ext cx="3754251" cy="369332"/>
          </a:xfrm>
          <a:prstGeom prst="rect">
            <a:avLst/>
          </a:prstGeom>
        </p:spPr>
        <p:txBody>
          <a:bodyPr wrap="square">
            <a:spAutoFit/>
          </a:bodyPr>
          <a:lstStyle/>
          <a:p>
            <a:r>
              <a:rPr lang="en-US" dirty="0"/>
              <a:t> Reference: https://corona.gov.bd/</a:t>
            </a:r>
          </a:p>
        </p:txBody>
      </p:sp>
      <p:sp>
        <p:nvSpPr>
          <p:cNvPr id="4" name="TextBox 3"/>
          <p:cNvSpPr txBox="1"/>
          <p:nvPr/>
        </p:nvSpPr>
        <p:spPr>
          <a:xfrm>
            <a:off x="3649476" y="281175"/>
            <a:ext cx="4916731" cy="584775"/>
          </a:xfrm>
          <a:prstGeom prst="rect">
            <a:avLst/>
          </a:prstGeom>
          <a:noFill/>
        </p:spPr>
        <p:txBody>
          <a:bodyPr wrap="none" rtlCol="0">
            <a:spAutoFit/>
          </a:bodyPr>
          <a:lstStyle/>
          <a:p>
            <a:r>
              <a:rPr lang="en-US" sz="3200" b="1" dirty="0">
                <a:solidFill>
                  <a:srgbClr val="FFFF00"/>
                </a:solidFill>
                <a:latin typeface="Bahnschrift" panose="020B0502040204020203" pitchFamily="34" charset="0"/>
                <a:cs typeface="Arial" panose="020B0604020202020204" pitchFamily="34" charset="0"/>
              </a:rPr>
              <a:t>August 2021 latest Update</a:t>
            </a:r>
          </a:p>
        </p:txBody>
      </p:sp>
    </p:spTree>
    <p:extLst>
      <p:ext uri="{BB962C8B-B14F-4D97-AF65-F5344CB8AC3E}">
        <p14:creationId xmlns:p14="http://schemas.microsoft.com/office/powerpoint/2010/main" val="3074071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5463" y="1655520"/>
            <a:ext cx="8953500" cy="2486025"/>
          </a:xfrm>
          <a:prstGeom prst="rect">
            <a:avLst/>
          </a:prstGeom>
        </p:spPr>
      </p:pic>
      <p:sp>
        <p:nvSpPr>
          <p:cNvPr id="3" name="Rectangle 2"/>
          <p:cNvSpPr/>
          <p:nvPr/>
        </p:nvSpPr>
        <p:spPr>
          <a:xfrm>
            <a:off x="3655770" y="63656"/>
            <a:ext cx="5488229" cy="584775"/>
          </a:xfrm>
          <a:prstGeom prst="rect">
            <a:avLst/>
          </a:prstGeom>
        </p:spPr>
        <p:txBody>
          <a:bodyPr wrap="square">
            <a:spAutoFit/>
          </a:bodyPr>
          <a:lstStyle/>
          <a:p>
            <a:r>
              <a:rPr lang="en-US" sz="3200" b="1" dirty="0">
                <a:solidFill>
                  <a:srgbClr val="FFFF00"/>
                </a:solidFill>
                <a:latin typeface="Bahnschrift" panose="020B0502040204020203" pitchFamily="34" charset="0"/>
                <a:cs typeface="Arial" panose="020B0604020202020204" pitchFamily="34" charset="0"/>
              </a:rPr>
              <a:t>August 2021 latest Update</a:t>
            </a:r>
          </a:p>
        </p:txBody>
      </p:sp>
      <p:sp>
        <p:nvSpPr>
          <p:cNvPr id="4" name="Rectangle 3"/>
          <p:cNvSpPr/>
          <p:nvPr/>
        </p:nvSpPr>
        <p:spPr>
          <a:xfrm>
            <a:off x="5335525" y="4556915"/>
            <a:ext cx="3426964" cy="369332"/>
          </a:xfrm>
          <a:prstGeom prst="rect">
            <a:avLst/>
          </a:prstGeom>
        </p:spPr>
        <p:txBody>
          <a:bodyPr wrap="none">
            <a:spAutoFit/>
          </a:bodyPr>
          <a:lstStyle/>
          <a:p>
            <a:r>
              <a:rPr lang="en-US" dirty="0"/>
              <a:t> Reference: https://corona.gov.bd/</a:t>
            </a:r>
          </a:p>
        </p:txBody>
      </p:sp>
    </p:spTree>
    <p:extLst>
      <p:ext uri="{BB962C8B-B14F-4D97-AF65-F5344CB8AC3E}">
        <p14:creationId xmlns:p14="http://schemas.microsoft.com/office/powerpoint/2010/main" val="3653044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6260" y="1350110"/>
            <a:ext cx="8504535" cy="3157535"/>
          </a:xfrm>
          <a:prstGeom prst="rect">
            <a:avLst/>
          </a:prstGeom>
        </p:spPr>
      </p:pic>
      <p:sp>
        <p:nvSpPr>
          <p:cNvPr id="3" name="Rectangle 2"/>
          <p:cNvSpPr/>
          <p:nvPr/>
        </p:nvSpPr>
        <p:spPr>
          <a:xfrm>
            <a:off x="3839343" y="281175"/>
            <a:ext cx="4916731" cy="584775"/>
          </a:xfrm>
          <a:prstGeom prst="rect">
            <a:avLst/>
          </a:prstGeom>
        </p:spPr>
        <p:txBody>
          <a:bodyPr wrap="none">
            <a:spAutoFit/>
          </a:bodyPr>
          <a:lstStyle/>
          <a:p>
            <a:r>
              <a:rPr lang="en-US" sz="3200" b="1" dirty="0">
                <a:solidFill>
                  <a:srgbClr val="FFFF00"/>
                </a:solidFill>
                <a:latin typeface="Bahnschrift" panose="020B0502040204020203" pitchFamily="34" charset="0"/>
                <a:cs typeface="Arial" panose="020B0604020202020204" pitchFamily="34" charset="0"/>
              </a:rPr>
              <a:t>August 2021 latest Update</a:t>
            </a:r>
          </a:p>
        </p:txBody>
      </p:sp>
      <p:sp>
        <p:nvSpPr>
          <p:cNvPr id="4" name="Rectangle 3"/>
          <p:cNvSpPr/>
          <p:nvPr/>
        </p:nvSpPr>
        <p:spPr>
          <a:xfrm>
            <a:off x="4877410" y="4622473"/>
            <a:ext cx="3426964" cy="369332"/>
          </a:xfrm>
          <a:prstGeom prst="rect">
            <a:avLst/>
          </a:prstGeom>
        </p:spPr>
        <p:txBody>
          <a:bodyPr wrap="none">
            <a:spAutoFit/>
          </a:bodyPr>
          <a:lstStyle/>
          <a:p>
            <a:r>
              <a:rPr lang="en-US" dirty="0"/>
              <a:t> Reference: https://corona.gov.bd/</a:t>
            </a:r>
          </a:p>
        </p:txBody>
      </p:sp>
    </p:spTree>
    <p:extLst>
      <p:ext uri="{BB962C8B-B14F-4D97-AF65-F5344CB8AC3E}">
        <p14:creationId xmlns:p14="http://schemas.microsoft.com/office/powerpoint/2010/main" val="301618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6590" y="281175"/>
            <a:ext cx="4096058" cy="646331"/>
          </a:xfrm>
          <a:prstGeom prst="rect">
            <a:avLst/>
          </a:prstGeom>
          <a:noFill/>
        </p:spPr>
        <p:txBody>
          <a:bodyPr wrap="none" rtlCol="0">
            <a:spAutoFit/>
          </a:bodyPr>
          <a:lstStyle/>
          <a:p>
            <a:r>
              <a:rPr lang="en-US" sz="3600" b="1" dirty="0">
                <a:solidFill>
                  <a:srgbClr val="FFFF00"/>
                </a:solidFill>
                <a:latin typeface="Arial Rounded MT Bold" panose="020F0704030504030204" pitchFamily="34" charset="0"/>
                <a:cs typeface="Aharoni" panose="02010803020104030203" pitchFamily="2" charset="-79"/>
              </a:rPr>
              <a:t>Project Outcome:</a:t>
            </a:r>
          </a:p>
        </p:txBody>
      </p:sp>
      <p:sp>
        <p:nvSpPr>
          <p:cNvPr id="4" name="Rectangle 3"/>
          <p:cNvSpPr/>
          <p:nvPr/>
        </p:nvSpPr>
        <p:spPr>
          <a:xfrm>
            <a:off x="448965" y="1808225"/>
            <a:ext cx="8398775" cy="3046988"/>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In this project, We wanted to show a proper idea about all the divisions of Bangladesh during the Covid pandemic by the visualization. So that it is very easy to know about Bangladesh in the pandemic time. And we have used data mining on all the </a:t>
            </a:r>
            <a:r>
              <a:rPr lang="en-US" sz="2400" dirty="0" err="1">
                <a:latin typeface="Times New Roman" panose="02020603050405020304" pitchFamily="18" charset="0"/>
                <a:cs typeface="Times New Roman" panose="02020603050405020304" pitchFamily="18" charset="0"/>
              </a:rPr>
              <a:t>Covid</a:t>
            </a:r>
            <a:r>
              <a:rPr lang="en-US" sz="2400" dirty="0">
                <a:latin typeface="Times New Roman" panose="02020603050405020304" pitchFamily="18" charset="0"/>
                <a:cs typeface="Times New Roman" panose="02020603050405020304" pitchFamily="18" charset="0"/>
              </a:rPr>
              <a:t> data sets in the world. Which are collected by Our World in data. If anyone watches our project, they will be clear about our country's death rate, Confirm cases rates easily. And we added world COVID data, it will help to artificial intelligent sector.</a:t>
            </a:r>
          </a:p>
        </p:txBody>
      </p:sp>
    </p:spTree>
    <p:extLst>
      <p:ext uri="{BB962C8B-B14F-4D97-AF65-F5344CB8AC3E}">
        <p14:creationId xmlns:p14="http://schemas.microsoft.com/office/powerpoint/2010/main" val="3724764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0" y="281175"/>
            <a:ext cx="3373039" cy="707886"/>
          </a:xfrm>
          <a:prstGeom prst="rect">
            <a:avLst/>
          </a:prstGeom>
          <a:noFill/>
        </p:spPr>
        <p:txBody>
          <a:bodyPr wrap="none" rtlCol="0">
            <a:spAutoFit/>
          </a:bodyPr>
          <a:lstStyle/>
          <a:p>
            <a:r>
              <a:rPr lang="en-US" sz="4000" b="1" dirty="0">
                <a:solidFill>
                  <a:schemeClr val="bg1"/>
                </a:solidFill>
                <a:latin typeface="Eras Bold ITC" panose="020B0907030504020204" pitchFamily="34" charset="0"/>
                <a:cs typeface="Arial" panose="020B0604020202020204" pitchFamily="34" charset="0"/>
              </a:rPr>
              <a:t>Source Code</a:t>
            </a:r>
          </a:p>
        </p:txBody>
      </p:sp>
      <p:sp>
        <p:nvSpPr>
          <p:cNvPr id="3" name="Rectangle 2"/>
          <p:cNvSpPr/>
          <p:nvPr/>
        </p:nvSpPr>
        <p:spPr>
          <a:xfrm>
            <a:off x="448965" y="2266340"/>
            <a:ext cx="8246070" cy="646331"/>
          </a:xfrm>
          <a:prstGeom prst="rect">
            <a:avLst/>
          </a:prstGeom>
        </p:spPr>
        <p:txBody>
          <a:bodyPr wrap="square">
            <a:spAutoFit/>
          </a:bodyPr>
          <a:lstStyle/>
          <a:p>
            <a:r>
              <a:rPr lang="en-US" b="1" u="sng" dirty="0" err="1"/>
              <a:t>Github</a:t>
            </a:r>
            <a:r>
              <a:rPr lang="en-US" b="1" u="sng" dirty="0"/>
              <a:t> link :  </a:t>
            </a:r>
          </a:p>
          <a:p>
            <a:r>
              <a:rPr lang="en-US" dirty="0"/>
              <a:t>https://github.com/thoufiqzumma/Covid-19-cases-in-Bangladesh-divisionwise-</a:t>
            </a:r>
          </a:p>
        </p:txBody>
      </p:sp>
    </p:spTree>
    <p:extLst>
      <p:ext uri="{BB962C8B-B14F-4D97-AF65-F5344CB8AC3E}">
        <p14:creationId xmlns:p14="http://schemas.microsoft.com/office/powerpoint/2010/main" val="1003161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06D985-BE94-4EA6-9410-CDFC118BB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97405"/>
            <a:ext cx="9144000" cy="3946095"/>
          </a:xfrm>
          <a:prstGeom prst="rect">
            <a:avLst/>
          </a:prstGeom>
        </p:spPr>
      </p:pic>
    </p:spTree>
    <p:extLst>
      <p:ext uri="{BB962C8B-B14F-4D97-AF65-F5344CB8AC3E}">
        <p14:creationId xmlns:p14="http://schemas.microsoft.com/office/powerpoint/2010/main" val="109100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1008</Words>
  <Application>Microsoft Office PowerPoint</Application>
  <PresentationFormat>On-screen Show (16:9)</PresentationFormat>
  <Paragraphs>124</Paragraphs>
  <Slides>37</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37</vt:i4>
      </vt:variant>
    </vt:vector>
  </HeadingPairs>
  <TitlesOfParts>
    <vt:vector size="53" baseType="lpstr">
      <vt:lpstr>Aharoni</vt:lpstr>
      <vt:lpstr>Algerian</vt:lpstr>
      <vt:lpstr>-apple-system</vt:lpstr>
      <vt:lpstr>Arial</vt:lpstr>
      <vt:lpstr>Arial Black</vt:lpstr>
      <vt:lpstr>Arial Narrow</vt:lpstr>
      <vt:lpstr>Arial Rounded MT Bold</vt:lpstr>
      <vt:lpstr>Arial Unicode MS</vt:lpstr>
      <vt:lpstr>Bahnschrift</vt:lpstr>
      <vt:lpstr>Bookman Old Style</vt:lpstr>
      <vt:lpstr>Calibri</vt:lpstr>
      <vt:lpstr>Eras Bold ITC</vt:lpstr>
      <vt:lpstr>Helvetica Neue</vt:lpstr>
      <vt:lpstr>Times New Roman</vt:lpstr>
      <vt:lpstr>Wingdings</vt:lpstr>
      <vt:lpstr>Office Theme</vt:lpstr>
      <vt:lpstr>Covid -19 cases in Bangladesh</vt:lpstr>
      <vt:lpstr>Presented By-</vt:lpstr>
      <vt:lpstr>What is CORONA virus?</vt:lpstr>
      <vt:lpstr>History of Corona Virus:</vt:lpstr>
      <vt:lpstr>Covid-19 Symptoms</vt:lpstr>
      <vt:lpstr>Dysthymia and Risk condition:</vt:lpstr>
      <vt:lpstr>Purpose</vt:lpstr>
      <vt:lpstr>Planning Consideration:</vt:lpstr>
      <vt:lpstr>Quarantine vs Isolation</vt:lpstr>
      <vt:lpstr>Vaccination</vt:lpstr>
      <vt:lpstr>PowerPoint Presentation</vt:lpstr>
      <vt:lpstr>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2021-08-19T04:54:37Z</dcterms:modified>
</cp:coreProperties>
</file>